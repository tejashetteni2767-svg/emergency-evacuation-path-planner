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2.png"/><Relationship Id="rId4" Type="http://schemas.openxmlformats.org/officeDocument/2006/relationships/image" Target="../media/image-6-2.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FCF6F5"/>
          </a:solidFill>
          <a:ln/>
        </p:spPr>
      </p:sp>
      <p:sp>
        <p:nvSpPr>
          <p:cNvPr id="3" name="Shape 1"/>
          <p:cNvSpPr/>
          <p:nvPr/>
        </p:nvSpPr>
        <p:spPr>
          <a:xfrm>
            <a:off x="-2011680" y="4572000"/>
            <a:ext cx="4754880" cy="4754880"/>
          </a:xfrm>
          <a:prstGeom prst="ellipse">
            <a:avLst/>
          </a:prstGeom>
          <a:solidFill>
            <a:srgbClr val="FCF6F5"/>
          </a:solidFill>
          <a:ln/>
        </p:spPr>
      </p:sp>
      <p:pic>
        <p:nvPicPr>
          <p:cNvPr id="4" name="Image 0" descr="images/klh_logo.jpg">    </p:cNvPr>
          <p:cNvPicPr>
            <a:picLocks noChangeAspect="1"/>
          </p:cNvPicPr>
          <p:nvPr/>
        </p:nvPicPr>
        <p:blipFill>
          <a:blip r:embed="rId1"/>
          <a:stretch>
            <a:fillRect/>
          </a:stretch>
        </p:blipFill>
        <p:spPr>
          <a:xfrm>
            <a:off x="4951476" y="411480"/>
            <a:ext cx="2286000" cy="1085393"/>
          </a:xfrm>
          <a:prstGeom prst="rect">
            <a:avLst/>
          </a:prstGeom>
        </p:spPr>
      </p:pic>
      <p:sp>
        <p:nvSpPr>
          <p:cNvPr id="5" name="Text 2"/>
          <p:cNvSpPr/>
          <p:nvPr/>
        </p:nvSpPr>
        <p:spPr>
          <a:xfrm>
            <a:off x="0" y="1691640"/>
            <a:ext cx="12188952" cy="365760"/>
          </a:xfrm>
          <a:prstGeom prst="rect">
            <a:avLst/>
          </a:prstGeom>
          <a:noFill/>
          <a:ln/>
        </p:spPr>
        <p:txBody>
          <a:bodyPr wrap="square" lIns="0" tIns="0" rIns="0" bIns="0" rtlCol="0" anchor="ctr"/>
          <a:lstStyle/>
          <a:p>
            <a:pPr algn="ctr" indent="0" marL="0">
              <a:buNone/>
            </a:pPr>
            <a:r>
              <a:rPr lang="en-US" sz="1600" i="1" dirty="0">
                <a:solidFill>
                  <a:srgbClr val="262220"/>
                </a:solidFill>
                <a:latin typeface="Cambria" pitchFamily="34" charset="0"/>
                <a:ea typeface="Cambria" pitchFamily="34" charset="-122"/>
                <a:cs typeface="Cambria" pitchFamily="34" charset="-120"/>
              </a:rPr>
              <a:t>A</a:t>
            </a:r>
            <a:endParaRPr lang="en-US" sz="1600" dirty="0"/>
          </a:p>
        </p:txBody>
      </p:sp>
      <p:sp>
        <p:nvSpPr>
          <p:cNvPr id="6" name="Text 3"/>
          <p:cNvSpPr/>
          <p:nvPr/>
        </p:nvSpPr>
        <p:spPr>
          <a:xfrm>
            <a:off x="0" y="2029968"/>
            <a:ext cx="12188952" cy="502920"/>
          </a:xfrm>
          <a:prstGeom prst="rect">
            <a:avLst/>
          </a:prstGeom>
          <a:noFill/>
          <a:ln/>
        </p:spPr>
        <p:txBody>
          <a:bodyPr wrap="square" lIns="0" tIns="0" rIns="0" bIns="0" rtlCol="0" anchor="ctr"/>
          <a:lstStyle/>
          <a:p>
            <a:pPr algn="ctr" indent="0" marL="0">
              <a:buNone/>
            </a:pPr>
            <a:r>
              <a:rPr lang="en-US" sz="2600" b="1" spc="100" kern="0" dirty="0">
                <a:solidFill>
                  <a:srgbClr val="990011"/>
                </a:solidFill>
                <a:latin typeface="Cambria" pitchFamily="34" charset="0"/>
                <a:ea typeface="Cambria" pitchFamily="34" charset="-122"/>
                <a:cs typeface="Cambria" pitchFamily="34" charset="-120"/>
              </a:rPr>
              <a:t>PROJECT REVIEW MEETING</a:t>
            </a:r>
            <a:endParaRPr lang="en-US" sz="2600" dirty="0"/>
          </a:p>
        </p:txBody>
      </p:sp>
      <p:sp>
        <p:nvSpPr>
          <p:cNvPr id="7" name="Text 4"/>
          <p:cNvSpPr/>
          <p:nvPr/>
        </p:nvSpPr>
        <p:spPr>
          <a:xfrm>
            <a:off x="0" y="2542032"/>
            <a:ext cx="12188952" cy="320040"/>
          </a:xfrm>
          <a:prstGeom prst="rect">
            <a:avLst/>
          </a:prstGeom>
          <a:noFill/>
          <a:ln/>
        </p:spPr>
        <p:txBody>
          <a:bodyPr wrap="square" lIns="0" tIns="0" rIns="0" bIns="0" rtlCol="0" anchor="ctr"/>
          <a:lstStyle/>
          <a:p>
            <a:pPr algn="ctr" indent="0" marL="0">
              <a:buNone/>
            </a:pPr>
            <a:r>
              <a:rPr lang="en-US" sz="1500" i="1" dirty="0">
                <a:solidFill>
                  <a:srgbClr val="262220"/>
                </a:solidFill>
                <a:latin typeface="Cambria" pitchFamily="34" charset="0"/>
                <a:ea typeface="Cambria" pitchFamily="34" charset="-122"/>
                <a:cs typeface="Cambria" pitchFamily="34" charset="-120"/>
              </a:rPr>
              <a:t>on</a:t>
            </a:r>
            <a:endParaRPr lang="en-US" sz="1500" dirty="0"/>
          </a:p>
        </p:txBody>
      </p:sp>
      <p:sp>
        <p:nvSpPr>
          <p:cNvPr id="8" name="Text 5"/>
          <p:cNvSpPr/>
          <p:nvPr/>
        </p:nvSpPr>
        <p:spPr>
          <a:xfrm>
            <a:off x="914400" y="2852928"/>
            <a:ext cx="10360152" cy="685800"/>
          </a:xfrm>
          <a:prstGeom prst="rect">
            <a:avLst/>
          </a:prstGeom>
          <a:noFill/>
          <a:ln/>
        </p:spPr>
        <p:txBody>
          <a:bodyPr wrap="square" lIns="0" tIns="0" rIns="0" bIns="0" rtlCol="0" anchor="ctr"/>
          <a:lstStyle/>
          <a:p>
            <a:pPr algn="ctr" indent="0" marL="0">
              <a:buNone/>
            </a:pPr>
            <a:r>
              <a:rPr lang="en-US" sz="3200" b="1" dirty="0">
                <a:solidFill>
                  <a:srgbClr val="2F3C7E"/>
                </a:solidFill>
                <a:latin typeface="Cambria" pitchFamily="34" charset="0"/>
                <a:ea typeface="Cambria" pitchFamily="34" charset="-122"/>
                <a:cs typeface="Cambria" pitchFamily="34" charset="-120"/>
              </a:rPr>
              <a:t>Emergency Evacuation Path Planner</a:t>
            </a:r>
            <a:endParaRPr lang="en-US" sz="3200" dirty="0"/>
          </a:p>
        </p:txBody>
      </p:sp>
      <p:sp>
        <p:nvSpPr>
          <p:cNvPr id="9" name="Shape 6"/>
          <p:cNvSpPr/>
          <p:nvPr/>
        </p:nvSpPr>
        <p:spPr>
          <a:xfrm>
            <a:off x="4814316" y="3639312"/>
            <a:ext cx="2560320" cy="0"/>
          </a:xfrm>
          <a:prstGeom prst="line">
            <a:avLst/>
          </a:prstGeom>
          <a:noFill/>
          <a:ln w="12700">
            <a:solidFill>
              <a:srgbClr val="D8D2D0"/>
            </a:solidFill>
            <a:prstDash val="solid"/>
          </a:ln>
        </p:spPr>
      </p:sp>
      <p:sp>
        <p:nvSpPr>
          <p:cNvPr id="10" name="Text 7"/>
          <p:cNvSpPr/>
          <p:nvPr/>
        </p:nvSpPr>
        <p:spPr>
          <a:xfrm>
            <a:off x="0" y="3767328"/>
            <a:ext cx="12188952" cy="274320"/>
          </a:xfrm>
          <a:prstGeom prst="rect">
            <a:avLst/>
          </a:prstGeom>
          <a:noFill/>
          <a:ln/>
        </p:spPr>
        <p:txBody>
          <a:bodyPr wrap="square" lIns="0" tIns="0" rIns="0" bIns="0" rtlCol="0" anchor="ctr"/>
          <a:lstStyle/>
          <a:p>
            <a:pPr algn="ctr" indent="0" marL="0">
              <a:buNone/>
            </a:pPr>
            <a:r>
              <a:rPr lang="en-US" sz="1300" b="1" dirty="0">
                <a:solidFill>
                  <a:srgbClr val="6B6360"/>
                </a:solidFill>
                <a:latin typeface="Calibri" pitchFamily="34" charset="0"/>
                <a:ea typeface="Calibri" pitchFamily="34" charset="-122"/>
                <a:cs typeface="Calibri" pitchFamily="34" charset="-120"/>
              </a:rPr>
              <a:t>By</a:t>
            </a:r>
            <a:endParaRPr lang="en-US" sz="1300" dirty="0"/>
          </a:p>
        </p:txBody>
      </p:sp>
      <p:sp>
        <p:nvSpPr>
          <p:cNvPr id="11" name="Text 8"/>
          <p:cNvSpPr/>
          <p:nvPr/>
        </p:nvSpPr>
        <p:spPr>
          <a:xfrm>
            <a:off x="2926080" y="4078224"/>
            <a:ext cx="3566160" cy="292608"/>
          </a:xfrm>
          <a:prstGeom prst="rect">
            <a:avLst/>
          </a:prstGeom>
          <a:noFill/>
          <a:ln/>
        </p:spPr>
        <p:txBody>
          <a:bodyPr wrap="square" lIns="0" tIns="0" rIns="0" bIns="0" rtlCol="0" anchor="ctr"/>
          <a:lstStyle/>
          <a:p>
            <a:pPr algn="l" indent="0" marL="0">
              <a:buNone/>
            </a:pPr>
            <a:r>
              <a:rPr lang="en-US" sz="1400" dirty="0">
                <a:solidFill>
                  <a:srgbClr val="6B6360"/>
                </a:solidFill>
                <a:latin typeface="Calibri" pitchFamily="34" charset="0"/>
                <a:ea typeface="Calibri" pitchFamily="34" charset="-122"/>
                <a:cs typeface="Calibri" pitchFamily="34" charset="-120"/>
              </a:rPr>
              <a:t>Name: </a:t>
            </a:r>
            <a:pPr algn="l" indent="0" marL="0">
              <a:buNone/>
            </a:pPr>
            <a:r>
              <a:rPr lang="en-US" sz="1400" b="1" dirty="0">
                <a:solidFill>
                  <a:srgbClr val="262220"/>
                </a:solidFill>
                <a:latin typeface="Calibri" pitchFamily="34" charset="0"/>
                <a:ea typeface="Calibri" pitchFamily="34" charset="-122"/>
                <a:cs typeface="Calibri" pitchFamily="34" charset="-120"/>
              </a:rPr>
              <a:t>Rishi Varma K</a:t>
            </a:r>
            <a:endParaRPr lang="en-US" sz="1400" dirty="0"/>
          </a:p>
        </p:txBody>
      </p:sp>
      <p:sp>
        <p:nvSpPr>
          <p:cNvPr id="12" name="Text 9"/>
          <p:cNvSpPr/>
          <p:nvPr/>
        </p:nvSpPr>
        <p:spPr>
          <a:xfrm>
            <a:off x="6035040" y="4078224"/>
            <a:ext cx="3200400" cy="292608"/>
          </a:xfrm>
          <a:prstGeom prst="rect">
            <a:avLst/>
          </a:prstGeom>
          <a:noFill/>
          <a:ln/>
        </p:spPr>
        <p:txBody>
          <a:bodyPr wrap="square" lIns="0" tIns="0" rIns="0" bIns="0" rtlCol="0" anchor="ctr"/>
          <a:lstStyle/>
          <a:p>
            <a:pPr algn="l" indent="0" marL="0">
              <a:buNone/>
            </a:pPr>
            <a:r>
              <a:rPr lang="en-US" sz="1400" dirty="0">
                <a:solidFill>
                  <a:srgbClr val="6B6360"/>
                </a:solidFill>
                <a:latin typeface="Calibri" pitchFamily="34" charset="0"/>
                <a:ea typeface="Calibri" pitchFamily="34" charset="-122"/>
                <a:cs typeface="Calibri" pitchFamily="34" charset="-120"/>
              </a:rPr>
              <a:t>Roll No: </a:t>
            </a:r>
            <a:pPr algn="l" indent="0" marL="0">
              <a:buNone/>
            </a:pPr>
            <a:r>
              <a:rPr lang="en-US" sz="1400" b="1" dirty="0">
                <a:solidFill>
                  <a:srgbClr val="262220"/>
                </a:solidFill>
                <a:latin typeface="Calibri" pitchFamily="34" charset="0"/>
                <a:ea typeface="Calibri" pitchFamily="34" charset="-122"/>
                <a:cs typeface="Calibri" pitchFamily="34" charset="-120"/>
              </a:rPr>
              <a:t>2520030248</a:t>
            </a:r>
            <a:endParaRPr lang="en-US" sz="1400" dirty="0"/>
          </a:p>
        </p:txBody>
      </p:sp>
      <p:sp>
        <p:nvSpPr>
          <p:cNvPr id="13" name="Text 10"/>
          <p:cNvSpPr/>
          <p:nvPr/>
        </p:nvSpPr>
        <p:spPr>
          <a:xfrm>
            <a:off x="2926080" y="4407408"/>
            <a:ext cx="3566160" cy="292608"/>
          </a:xfrm>
          <a:prstGeom prst="rect">
            <a:avLst/>
          </a:prstGeom>
          <a:noFill/>
          <a:ln/>
        </p:spPr>
        <p:txBody>
          <a:bodyPr wrap="square" lIns="0" tIns="0" rIns="0" bIns="0" rtlCol="0" anchor="ctr"/>
          <a:lstStyle/>
          <a:p>
            <a:pPr algn="l" indent="0" marL="0">
              <a:buNone/>
            </a:pPr>
            <a:r>
              <a:rPr lang="en-US" sz="1400" dirty="0">
                <a:solidFill>
                  <a:srgbClr val="6B6360"/>
                </a:solidFill>
                <a:latin typeface="Calibri" pitchFamily="34" charset="0"/>
                <a:ea typeface="Calibri" pitchFamily="34" charset="-122"/>
                <a:cs typeface="Calibri" pitchFamily="34" charset="-120"/>
              </a:rPr>
              <a:t>Name: </a:t>
            </a:r>
            <a:pPr algn="l" indent="0" marL="0">
              <a:buNone/>
            </a:pPr>
            <a:r>
              <a:rPr lang="en-US" sz="1400" b="1" dirty="0">
                <a:solidFill>
                  <a:srgbClr val="262220"/>
                </a:solidFill>
                <a:latin typeface="Calibri" pitchFamily="34" charset="0"/>
                <a:ea typeface="Calibri" pitchFamily="34" charset="-122"/>
                <a:cs typeface="Calibri" pitchFamily="34" charset="-120"/>
              </a:rPr>
              <a:t>Charith K</a:t>
            </a:r>
            <a:endParaRPr lang="en-US" sz="1400" dirty="0"/>
          </a:p>
        </p:txBody>
      </p:sp>
      <p:sp>
        <p:nvSpPr>
          <p:cNvPr id="14" name="Text 11"/>
          <p:cNvSpPr/>
          <p:nvPr/>
        </p:nvSpPr>
        <p:spPr>
          <a:xfrm>
            <a:off x="6035040" y="4407408"/>
            <a:ext cx="3200400" cy="292608"/>
          </a:xfrm>
          <a:prstGeom prst="rect">
            <a:avLst/>
          </a:prstGeom>
          <a:noFill/>
          <a:ln/>
        </p:spPr>
        <p:txBody>
          <a:bodyPr wrap="square" lIns="0" tIns="0" rIns="0" bIns="0" rtlCol="0" anchor="ctr"/>
          <a:lstStyle/>
          <a:p>
            <a:pPr algn="l" indent="0" marL="0">
              <a:buNone/>
            </a:pPr>
            <a:r>
              <a:rPr lang="en-US" sz="1400" dirty="0">
                <a:solidFill>
                  <a:srgbClr val="6B6360"/>
                </a:solidFill>
                <a:latin typeface="Calibri" pitchFamily="34" charset="0"/>
                <a:ea typeface="Calibri" pitchFamily="34" charset="-122"/>
                <a:cs typeface="Calibri" pitchFamily="34" charset="-120"/>
              </a:rPr>
              <a:t>Roll No: </a:t>
            </a:r>
            <a:pPr algn="l" indent="0" marL="0">
              <a:buNone/>
            </a:pPr>
            <a:r>
              <a:rPr lang="en-US" sz="1400" b="1" dirty="0">
                <a:solidFill>
                  <a:srgbClr val="262220"/>
                </a:solidFill>
                <a:latin typeface="Calibri" pitchFamily="34" charset="0"/>
                <a:ea typeface="Calibri" pitchFamily="34" charset="-122"/>
                <a:cs typeface="Calibri" pitchFamily="34" charset="-120"/>
              </a:rPr>
              <a:t>2520030356</a:t>
            </a:r>
            <a:endParaRPr lang="en-US" sz="1400" dirty="0"/>
          </a:p>
        </p:txBody>
      </p:sp>
      <p:sp>
        <p:nvSpPr>
          <p:cNvPr id="15" name="Text 12"/>
          <p:cNvSpPr/>
          <p:nvPr/>
        </p:nvSpPr>
        <p:spPr>
          <a:xfrm>
            <a:off x="2926080" y="4736592"/>
            <a:ext cx="3566160" cy="292608"/>
          </a:xfrm>
          <a:prstGeom prst="rect">
            <a:avLst/>
          </a:prstGeom>
          <a:noFill/>
          <a:ln/>
        </p:spPr>
        <p:txBody>
          <a:bodyPr wrap="square" lIns="0" tIns="0" rIns="0" bIns="0" rtlCol="0" anchor="ctr"/>
          <a:lstStyle/>
          <a:p>
            <a:pPr algn="l" indent="0" marL="0">
              <a:buNone/>
            </a:pPr>
            <a:r>
              <a:rPr lang="en-US" sz="1400" dirty="0">
                <a:solidFill>
                  <a:srgbClr val="6B6360"/>
                </a:solidFill>
                <a:latin typeface="Calibri" pitchFamily="34" charset="0"/>
                <a:ea typeface="Calibri" pitchFamily="34" charset="-122"/>
                <a:cs typeface="Calibri" pitchFamily="34" charset="-120"/>
              </a:rPr>
              <a:t>Name: </a:t>
            </a:r>
            <a:pPr algn="l" indent="0" marL="0">
              <a:buNone/>
            </a:pPr>
            <a:r>
              <a:rPr lang="en-US" sz="1400" b="1" dirty="0">
                <a:solidFill>
                  <a:srgbClr val="262220"/>
                </a:solidFill>
                <a:latin typeface="Calibri" pitchFamily="34" charset="0"/>
                <a:ea typeface="Calibri" pitchFamily="34" charset="-122"/>
                <a:cs typeface="Calibri" pitchFamily="34" charset="-120"/>
              </a:rPr>
              <a:t>S. Teja</a:t>
            </a:r>
            <a:endParaRPr lang="en-US" sz="1400" dirty="0"/>
          </a:p>
        </p:txBody>
      </p:sp>
      <p:sp>
        <p:nvSpPr>
          <p:cNvPr id="16" name="Text 13"/>
          <p:cNvSpPr/>
          <p:nvPr/>
        </p:nvSpPr>
        <p:spPr>
          <a:xfrm>
            <a:off x="6035040" y="4736592"/>
            <a:ext cx="3200400" cy="292608"/>
          </a:xfrm>
          <a:prstGeom prst="rect">
            <a:avLst/>
          </a:prstGeom>
          <a:noFill/>
          <a:ln/>
        </p:spPr>
        <p:txBody>
          <a:bodyPr wrap="square" lIns="0" tIns="0" rIns="0" bIns="0" rtlCol="0" anchor="ctr"/>
          <a:lstStyle/>
          <a:p>
            <a:pPr algn="l" indent="0" marL="0">
              <a:buNone/>
            </a:pPr>
            <a:r>
              <a:rPr lang="en-US" sz="1400" dirty="0">
                <a:solidFill>
                  <a:srgbClr val="6B6360"/>
                </a:solidFill>
                <a:latin typeface="Calibri" pitchFamily="34" charset="0"/>
                <a:ea typeface="Calibri" pitchFamily="34" charset="-122"/>
                <a:cs typeface="Calibri" pitchFamily="34" charset="-120"/>
              </a:rPr>
              <a:t>Roll No: </a:t>
            </a:r>
            <a:pPr algn="l" indent="0" marL="0">
              <a:buNone/>
            </a:pPr>
            <a:r>
              <a:rPr lang="en-US" sz="1400" b="1" dirty="0">
                <a:solidFill>
                  <a:srgbClr val="262220"/>
                </a:solidFill>
                <a:latin typeface="Calibri" pitchFamily="34" charset="0"/>
                <a:ea typeface="Calibri" pitchFamily="34" charset="-122"/>
                <a:cs typeface="Calibri" pitchFamily="34" charset="-120"/>
              </a:rPr>
              <a:t>2520030419</a:t>
            </a:r>
            <a:endParaRPr lang="en-US" sz="1400" dirty="0"/>
          </a:p>
        </p:txBody>
      </p:sp>
      <p:sp>
        <p:nvSpPr>
          <p:cNvPr id="17" name="Text 14"/>
          <p:cNvSpPr/>
          <p:nvPr/>
        </p:nvSpPr>
        <p:spPr>
          <a:xfrm>
            <a:off x="0" y="5230368"/>
            <a:ext cx="12188952" cy="320040"/>
          </a:xfrm>
          <a:prstGeom prst="rect">
            <a:avLst/>
          </a:prstGeom>
          <a:noFill/>
          <a:ln/>
        </p:spPr>
        <p:txBody>
          <a:bodyPr wrap="square" lIns="0" tIns="0" rIns="0" bIns="0" rtlCol="0" anchor="ctr"/>
          <a:lstStyle/>
          <a:p>
            <a:pPr algn="ctr" indent="0" marL="0">
              <a:buNone/>
            </a:pPr>
            <a:r>
              <a:rPr lang="en-US" sz="1400" b="1" dirty="0">
                <a:solidFill>
                  <a:srgbClr val="2F3C7E"/>
                </a:solidFill>
                <a:latin typeface="Calibri" pitchFamily="34" charset="0"/>
                <a:ea typeface="Calibri" pitchFamily="34" charset="-122"/>
                <a:cs typeface="Calibri" pitchFamily="34" charset="-120"/>
              </a:rPr>
              <a:t>Department of Computer Science and Engineering</a:t>
            </a:r>
            <a:endParaRPr lang="en-US" sz="1400" dirty="0"/>
          </a:p>
        </p:txBody>
      </p:sp>
      <p:sp>
        <p:nvSpPr>
          <p:cNvPr id="18" name="Shape 15"/>
          <p:cNvSpPr/>
          <p:nvPr/>
        </p:nvSpPr>
        <p:spPr>
          <a:xfrm>
            <a:off x="1371600" y="5870448"/>
            <a:ext cx="9445752" cy="0"/>
          </a:xfrm>
          <a:prstGeom prst="line">
            <a:avLst/>
          </a:prstGeom>
          <a:noFill/>
          <a:ln w="12700">
            <a:solidFill>
              <a:srgbClr val="E5DEDC"/>
            </a:solidFill>
            <a:prstDash val="solid"/>
          </a:ln>
        </p:spPr>
      </p:sp>
      <p:sp>
        <p:nvSpPr>
          <p:cNvPr id="19" name="Text 16"/>
          <p:cNvSpPr/>
          <p:nvPr/>
        </p:nvSpPr>
        <p:spPr>
          <a:xfrm>
            <a:off x="0" y="5961888"/>
            <a:ext cx="12188952" cy="310896"/>
          </a:xfrm>
          <a:prstGeom prst="rect">
            <a:avLst/>
          </a:prstGeom>
          <a:noFill/>
          <a:ln/>
        </p:spPr>
        <p:txBody>
          <a:bodyPr wrap="square" lIns="0" tIns="0" rIns="0" bIns="0" rtlCol="0" anchor="ctr"/>
          <a:lstStyle/>
          <a:p>
            <a:pPr algn="ctr" indent="0" marL="0">
              <a:buNone/>
            </a:pPr>
            <a:r>
              <a:rPr lang="en-US" sz="1500" b="1" dirty="0">
                <a:solidFill>
                  <a:srgbClr val="262220"/>
                </a:solidFill>
                <a:latin typeface="Cambria" pitchFamily="34" charset="0"/>
                <a:ea typeface="Cambria" pitchFamily="34" charset="-122"/>
                <a:cs typeface="Cambria" pitchFamily="34" charset="-120"/>
              </a:rPr>
              <a:t>Koneru Lakshmaiah Education Foundation</a:t>
            </a:r>
            <a:endParaRPr lang="en-US" sz="1500" dirty="0"/>
          </a:p>
        </p:txBody>
      </p:sp>
      <p:sp>
        <p:nvSpPr>
          <p:cNvPr id="20" name="Text 17"/>
          <p:cNvSpPr/>
          <p:nvPr/>
        </p:nvSpPr>
        <p:spPr>
          <a:xfrm>
            <a:off x="0" y="6263640"/>
            <a:ext cx="12188952" cy="237744"/>
          </a:xfrm>
          <a:prstGeom prst="rect">
            <a:avLst/>
          </a:prstGeom>
          <a:noFill/>
          <a:ln/>
        </p:spPr>
        <p:txBody>
          <a:bodyPr wrap="square" lIns="0" tIns="0" rIns="0" bIns="0" rtlCol="0" anchor="ctr"/>
          <a:lstStyle/>
          <a:p>
            <a:pPr algn="ctr" indent="0" marL="0">
              <a:buNone/>
            </a:pPr>
            <a:r>
              <a:rPr lang="en-US" sz="1050" b="1" dirty="0">
                <a:solidFill>
                  <a:srgbClr val="6B6360"/>
                </a:solidFill>
                <a:latin typeface="Calibri" pitchFamily="34" charset="0"/>
                <a:ea typeface="Calibri" pitchFamily="34" charset="-122"/>
                <a:cs typeface="Calibri" pitchFamily="34" charset="-120"/>
              </a:rPr>
              <a:t>(Deemed to be University estd. u/s. 3 of the UGC Act, 1956)</a:t>
            </a:r>
            <a:endParaRPr lang="en-US" sz="1050" dirty="0"/>
          </a:p>
        </p:txBody>
      </p:sp>
      <p:sp>
        <p:nvSpPr>
          <p:cNvPr id="21" name="Text 18"/>
          <p:cNvSpPr/>
          <p:nvPr/>
        </p:nvSpPr>
        <p:spPr>
          <a:xfrm>
            <a:off x="0" y="6492240"/>
            <a:ext cx="12188952" cy="219456"/>
          </a:xfrm>
          <a:prstGeom prst="rect">
            <a:avLst/>
          </a:prstGeom>
          <a:noFill/>
          <a:ln/>
        </p:spPr>
        <p:txBody>
          <a:bodyPr wrap="square" lIns="0" tIns="0" rIns="0" bIns="0" rtlCol="0" anchor="ctr"/>
          <a:lstStyle/>
          <a:p>
            <a:pPr algn="ctr" indent="0" marL="0">
              <a:buNone/>
            </a:pPr>
            <a:r>
              <a:rPr lang="en-US" sz="950" b="1" dirty="0">
                <a:solidFill>
                  <a:srgbClr val="6B6360"/>
                </a:solidFill>
                <a:latin typeface="Calibri" pitchFamily="34" charset="0"/>
                <a:ea typeface="Calibri" pitchFamily="34" charset="-122"/>
                <a:cs typeface="Calibri" pitchFamily="34" charset="-120"/>
              </a:rPr>
              <a:t>Off-Campus: Bachupally-Gandimaisamma Road, Bowrampet, Hyderabad, Telangana - 500 043.</a:t>
            </a:r>
            <a:endParaRPr lang="en-US" sz="950" dirty="0"/>
          </a:p>
        </p:txBody>
      </p:sp>
      <p:sp>
        <p:nvSpPr>
          <p:cNvPr id="22" name="Text 19"/>
          <p:cNvSpPr/>
          <p:nvPr/>
        </p:nvSpPr>
        <p:spPr>
          <a:xfrm>
            <a:off x="0" y="6693408"/>
            <a:ext cx="12188952" cy="201168"/>
          </a:xfrm>
          <a:prstGeom prst="rect">
            <a:avLst/>
          </a:prstGeom>
          <a:noFill/>
          <a:ln/>
        </p:spPr>
        <p:txBody>
          <a:bodyPr wrap="square" lIns="0" tIns="0" rIns="0" bIns="0" rtlCol="0" anchor="ctr"/>
          <a:lstStyle/>
          <a:p>
            <a:pPr algn="ctr" indent="0" marL="0">
              <a:buNone/>
            </a:pPr>
            <a:r>
              <a:rPr lang="en-US" sz="950" b="1" dirty="0">
                <a:solidFill>
                  <a:srgbClr val="2F3C7E"/>
                </a:solidFill>
                <a:latin typeface="Calibri" pitchFamily="34" charset="0"/>
                <a:ea typeface="Calibri" pitchFamily="34" charset="-122"/>
                <a:cs typeface="Calibri" pitchFamily="34" charset="-120"/>
              </a:rPr>
              <a:t>Phone No: 7815926816   |   www.klh.edu.in</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6F5"/>
        </a:solidFill>
      </p:bgPr>
    </p:bg>
    <p:spTree>
      <p:nvGrpSpPr>
        <p:cNvPr id="1" name=""/>
        <p:cNvGrpSpPr/>
        <p:nvPr/>
      </p:nvGrpSpPr>
      <p:grpSpPr>
        <a:xfrm>
          <a:off x="0" y="0"/>
          <a:ext cx="0" cy="0"/>
          <a:chOff x="0" y="0"/>
          <a:chExt cx="0" cy="0"/>
        </a:xfrm>
      </p:grpSpPr>
      <p:sp>
        <p:nvSpPr>
          <p:cNvPr id="2" name="Text 0"/>
          <p:cNvSpPr/>
          <p:nvPr/>
        </p:nvSpPr>
        <p:spPr>
          <a:xfrm>
            <a:off x="548640" y="384048"/>
            <a:ext cx="8229600" cy="292608"/>
          </a:xfrm>
          <a:prstGeom prst="rect">
            <a:avLst/>
          </a:prstGeom>
          <a:noFill/>
          <a:ln/>
        </p:spPr>
        <p:txBody>
          <a:bodyPr wrap="square" lIns="0" tIns="0" rIns="0" bIns="0" rtlCol="0" anchor="ctr"/>
          <a:lstStyle/>
          <a:p>
            <a:pPr indent="0" marL="0">
              <a:buNone/>
            </a:pPr>
            <a:r>
              <a:rPr lang="en-US" sz="1300" b="1" spc="200" kern="0" dirty="0">
                <a:solidFill>
                  <a:srgbClr val="990011"/>
                </a:solidFill>
                <a:latin typeface="Calibri" pitchFamily="34" charset="0"/>
                <a:ea typeface="Calibri" pitchFamily="34" charset="-122"/>
                <a:cs typeface="Calibri" pitchFamily="34" charset="-120"/>
              </a:rPr>
              <a:t>ABSTRACT</a:t>
            </a:r>
            <a:endParaRPr lang="en-US" sz="1300" dirty="0"/>
          </a:p>
        </p:txBody>
      </p:sp>
      <p:sp>
        <p:nvSpPr>
          <p:cNvPr id="3" name="Text 1"/>
          <p:cNvSpPr/>
          <p:nvPr/>
        </p:nvSpPr>
        <p:spPr>
          <a:xfrm>
            <a:off x="530352" y="658368"/>
            <a:ext cx="10607040" cy="566928"/>
          </a:xfrm>
          <a:prstGeom prst="rect">
            <a:avLst/>
          </a:prstGeom>
          <a:noFill/>
          <a:ln/>
        </p:spPr>
        <p:txBody>
          <a:bodyPr wrap="square" lIns="0" tIns="0" rIns="0" bIns="0" rtlCol="0" anchor="ctr"/>
          <a:lstStyle/>
          <a:p>
            <a:pPr indent="0" marL="0">
              <a:buNone/>
            </a:pPr>
            <a:r>
              <a:rPr lang="en-US" sz="3000" b="1" dirty="0">
                <a:solidFill>
                  <a:srgbClr val="2F3C7E"/>
                </a:solidFill>
                <a:latin typeface="Cambria" pitchFamily="34" charset="0"/>
                <a:ea typeface="Cambria" pitchFamily="34" charset="-122"/>
                <a:cs typeface="Cambria" pitchFamily="34" charset="-120"/>
              </a:rPr>
              <a:t>Aim of the Project</a:t>
            </a:r>
            <a:endParaRPr lang="en-US" sz="3000" dirty="0"/>
          </a:p>
        </p:txBody>
      </p:sp>
      <p:sp>
        <p:nvSpPr>
          <p:cNvPr id="4" name="Shape 2"/>
          <p:cNvSpPr/>
          <p:nvPr/>
        </p:nvSpPr>
        <p:spPr>
          <a:xfrm>
            <a:off x="548640" y="1417320"/>
            <a:ext cx="6903720" cy="4434840"/>
          </a:xfrm>
          <a:prstGeom prst="roundRect">
            <a:avLst>
              <a:gd name="adj" fmla="val 1856"/>
            </a:avLst>
          </a:prstGeom>
          <a:solidFill>
            <a:srgbClr val="FFFFFF"/>
          </a:solidFill>
          <a:ln/>
          <a:effectLst>
            <a:outerShdw sx="100000" sy="100000" kx="0" ky="0" algn="bl" rotWithShape="0" blurRad="101600" dist="38100" dir="5400000">
              <a:srgbClr val="1A1A1A">
                <a:alpha val="12000"/>
              </a:srgbClr>
            </a:outerShdw>
          </a:effectLst>
        </p:spPr>
      </p:sp>
      <p:sp>
        <p:nvSpPr>
          <p:cNvPr id="5" name="Shape 3"/>
          <p:cNvSpPr/>
          <p:nvPr/>
        </p:nvSpPr>
        <p:spPr>
          <a:xfrm>
            <a:off x="868680" y="1783080"/>
            <a:ext cx="566928" cy="566928"/>
          </a:xfrm>
          <a:prstGeom prst="ellipse">
            <a:avLst/>
          </a:prstGeom>
          <a:solidFill>
            <a:srgbClr val="990011"/>
          </a:solidFill>
          <a:ln/>
        </p:spPr>
      </p:sp>
      <p:pic>
        <p:nvPicPr>
          <p:cNvPr id="6" name="Image 0" descr="images/icon_target.png">    </p:cNvPr>
          <p:cNvPicPr>
            <a:picLocks noChangeAspect="1"/>
          </p:cNvPicPr>
          <p:nvPr/>
        </p:nvPicPr>
        <p:blipFill>
          <a:blip r:embed="rId1"/>
          <a:stretch>
            <a:fillRect/>
          </a:stretch>
        </p:blipFill>
        <p:spPr>
          <a:xfrm>
            <a:off x="1016081" y="1930481"/>
            <a:ext cx="272125" cy="272125"/>
          </a:xfrm>
          <a:prstGeom prst="rect">
            <a:avLst/>
          </a:prstGeom>
        </p:spPr>
      </p:pic>
      <p:sp>
        <p:nvSpPr>
          <p:cNvPr id="7" name="Text 4"/>
          <p:cNvSpPr/>
          <p:nvPr/>
        </p:nvSpPr>
        <p:spPr>
          <a:xfrm>
            <a:off x="1600200" y="1755648"/>
            <a:ext cx="5669280" cy="640080"/>
          </a:xfrm>
          <a:prstGeom prst="rect">
            <a:avLst/>
          </a:prstGeom>
          <a:noFill/>
          <a:ln/>
        </p:spPr>
        <p:txBody>
          <a:bodyPr wrap="square" lIns="0" tIns="0" rIns="0" bIns="0" rtlCol="0" anchor="t"/>
          <a:lstStyle/>
          <a:p>
            <a:pPr indent="0" marL="0">
              <a:buNone/>
            </a:pPr>
            <a:r>
              <a:rPr lang="en-US" sz="1600" b="1" dirty="0">
                <a:solidFill>
                  <a:srgbClr val="2F3C7E"/>
                </a:solidFill>
                <a:latin typeface="Cambria" pitchFamily="34" charset="0"/>
                <a:ea typeface="Cambria" pitchFamily="34" charset="-122"/>
                <a:cs typeface="Cambria" pitchFamily="34" charset="-120"/>
              </a:rPr>
              <a:t>Design an AI system that finds the safest and fastest evacuation routes during emergencies.</a:t>
            </a:r>
            <a:endParaRPr lang="en-US" sz="1600" dirty="0"/>
          </a:p>
        </p:txBody>
      </p:sp>
      <p:sp>
        <p:nvSpPr>
          <p:cNvPr id="8" name="Text 5"/>
          <p:cNvSpPr/>
          <p:nvPr/>
        </p:nvSpPr>
        <p:spPr>
          <a:xfrm>
            <a:off x="868680" y="2606040"/>
            <a:ext cx="6263640" cy="3063240"/>
          </a:xfrm>
          <a:prstGeom prst="rect">
            <a:avLst/>
          </a:prstGeom>
          <a:noFill/>
          <a:ln/>
        </p:spPr>
        <p:txBody>
          <a:bodyPr wrap="square" lIns="0" tIns="0" rIns="0" bIns="0" rtlCol="0" anchor="t"/>
          <a:lstStyle/>
          <a:p>
            <a:pPr algn="l" indent="0" marL="0">
              <a:lnSpc>
                <a:spcPct val="112000"/>
              </a:lnSpc>
              <a:spcAft>
                <a:spcPts val="1000"/>
              </a:spcAft>
              <a:buNone/>
            </a:pPr>
            <a:r>
              <a:rPr lang="en-US" sz="1350" dirty="0">
                <a:solidFill>
                  <a:srgbClr val="262220"/>
                </a:solidFill>
                <a:latin typeface="Calibri" pitchFamily="34" charset="0"/>
                <a:ea typeface="Calibri" pitchFamily="34" charset="-122"/>
                <a:cs typeface="Calibri" pitchFamily="34" charset="-120"/>
              </a:rPr>
              <a:t>The project develops an intelligent evacuation planning system that models a building as a graph of rooms, corridors and exits, and applies AI search and reasoning techniques to guide occupants away from danger.</a:t>
            </a:r>
            <a:endParaRPr lang="en-US" sz="1350" dirty="0"/>
          </a:p>
          <a:p>
            <a:pPr algn="l" indent="0" marL="0">
              <a:lnSpc>
                <a:spcPct val="112000"/>
              </a:lnSpc>
              <a:spcAft>
                <a:spcPts val="1000"/>
              </a:spcAft>
              <a:buNone/>
            </a:pPr>
            <a:r>
              <a:rPr lang="en-US" sz="1350" dirty="0">
                <a:solidFill>
                  <a:srgbClr val="262220"/>
                </a:solidFill>
                <a:latin typeface="Calibri" pitchFamily="34" charset="0"/>
                <a:ea typeface="Calibri" pitchFamily="34" charset="-122"/>
                <a:cs typeface="Calibri" pitchFamily="34" charset="-120"/>
              </a:rPr>
              <a:t>During emergencies such as fire, smoke or earthquakes, the system continuously evaluates hazards and congestion to recommend the route that is both the shortest and the safest, rather than simply the nearest exit.</a:t>
            </a:r>
            <a:endParaRPr lang="en-US" sz="1350" dirty="0"/>
          </a:p>
          <a:p>
            <a:pPr algn="l" indent="0" marL="0">
              <a:lnSpc>
                <a:spcPct val="112000"/>
              </a:lnSpc>
              <a:buNone/>
            </a:pPr>
            <a:r>
              <a:rPr lang="en-US" sz="1350" dirty="0">
                <a:solidFill>
                  <a:srgbClr val="262220"/>
                </a:solidFill>
                <a:latin typeface="Calibri" pitchFamily="34" charset="0"/>
                <a:ea typeface="Calibri" pitchFamily="34" charset="-122"/>
                <a:cs typeface="Calibri" pitchFamily="34" charset="-120"/>
              </a:rPr>
              <a:t>Recommended paths are displayed on a live map interface with directional alerts, helping building occupants and emergency responders make faster, safer decisions under pressure.</a:t>
            </a:r>
            <a:endParaRPr lang="en-US" sz="1350" dirty="0"/>
          </a:p>
        </p:txBody>
      </p:sp>
      <p:sp>
        <p:nvSpPr>
          <p:cNvPr id="9" name="Shape 6"/>
          <p:cNvSpPr/>
          <p:nvPr/>
        </p:nvSpPr>
        <p:spPr>
          <a:xfrm>
            <a:off x="7726680" y="1417320"/>
            <a:ext cx="3913632" cy="4434840"/>
          </a:xfrm>
          <a:prstGeom prst="roundRect">
            <a:avLst>
              <a:gd name="adj" fmla="val 2103"/>
            </a:avLst>
          </a:prstGeom>
          <a:solidFill>
            <a:srgbClr val="2F3C7E"/>
          </a:solidFill>
          <a:ln/>
          <a:effectLst>
            <a:outerShdw sx="100000" sy="100000" kx="0" ky="0" algn="bl" rotWithShape="0" blurRad="101600" dist="38100" dir="5400000">
              <a:srgbClr val="1A1A1A">
                <a:alpha val="12000"/>
              </a:srgbClr>
            </a:outerShdw>
          </a:effectLst>
        </p:spPr>
      </p:sp>
      <p:sp>
        <p:nvSpPr>
          <p:cNvPr id="10" name="Text 7"/>
          <p:cNvSpPr/>
          <p:nvPr/>
        </p:nvSpPr>
        <p:spPr>
          <a:xfrm>
            <a:off x="8046720" y="1691640"/>
            <a:ext cx="329184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Emergencies Handled</a:t>
            </a:r>
            <a:endParaRPr lang="en-US" sz="1500" dirty="0"/>
          </a:p>
        </p:txBody>
      </p:sp>
      <p:sp>
        <p:nvSpPr>
          <p:cNvPr id="11" name="Shape 8"/>
          <p:cNvSpPr/>
          <p:nvPr/>
        </p:nvSpPr>
        <p:spPr>
          <a:xfrm>
            <a:off x="8046720" y="2286000"/>
            <a:ext cx="457200" cy="457200"/>
          </a:xfrm>
          <a:prstGeom prst="ellipse">
            <a:avLst/>
          </a:prstGeom>
          <a:solidFill>
            <a:srgbClr val="990011"/>
          </a:solidFill>
          <a:ln/>
        </p:spPr>
      </p:sp>
      <p:pic>
        <p:nvPicPr>
          <p:cNvPr id="12" name="Image 1" descr="images/icon_fire.png">    </p:cNvPr>
          <p:cNvPicPr>
            <a:picLocks noChangeAspect="1"/>
          </p:cNvPicPr>
          <p:nvPr/>
        </p:nvPicPr>
        <p:blipFill>
          <a:blip r:embed="rId2"/>
          <a:stretch>
            <a:fillRect/>
          </a:stretch>
        </p:blipFill>
        <p:spPr>
          <a:xfrm>
            <a:off x="8165592" y="2404872"/>
            <a:ext cx="219456" cy="219456"/>
          </a:xfrm>
          <a:prstGeom prst="rect">
            <a:avLst/>
          </a:prstGeom>
        </p:spPr>
      </p:pic>
      <p:sp>
        <p:nvSpPr>
          <p:cNvPr id="13" name="Text 9"/>
          <p:cNvSpPr/>
          <p:nvPr/>
        </p:nvSpPr>
        <p:spPr>
          <a:xfrm>
            <a:off x="8650224" y="2304288"/>
            <a:ext cx="2788920" cy="420624"/>
          </a:xfrm>
          <a:prstGeom prst="rect">
            <a:avLst/>
          </a:prstGeom>
          <a:noFill/>
          <a:ln/>
        </p:spPr>
        <p:txBody>
          <a:bodyPr wrap="square" lIns="0" tIns="0" rIns="0" bIns="0" rtlCol="0" anchor="ctr"/>
          <a:lstStyle/>
          <a:p>
            <a:pPr indent="0" marL="0">
              <a:buNone/>
            </a:pPr>
            <a:r>
              <a:rPr lang="en-US" sz="1200" dirty="0">
                <a:solidFill>
                  <a:srgbClr val="EFE9F5"/>
                </a:solidFill>
                <a:latin typeface="Calibri" pitchFamily="34" charset="0"/>
                <a:ea typeface="Calibri" pitchFamily="34" charset="-122"/>
                <a:cs typeface="Calibri" pitchFamily="34" charset="-120"/>
              </a:rPr>
              <a:t>Fire &amp; smoke spread</a:t>
            </a:r>
            <a:endParaRPr lang="en-US" sz="1200" dirty="0"/>
          </a:p>
        </p:txBody>
      </p:sp>
      <p:sp>
        <p:nvSpPr>
          <p:cNvPr id="14" name="Shape 10"/>
          <p:cNvSpPr/>
          <p:nvPr/>
        </p:nvSpPr>
        <p:spPr>
          <a:xfrm>
            <a:off x="8046720" y="2944368"/>
            <a:ext cx="457200" cy="457200"/>
          </a:xfrm>
          <a:prstGeom prst="ellipse">
            <a:avLst/>
          </a:prstGeom>
          <a:solidFill>
            <a:srgbClr val="990011"/>
          </a:solidFill>
          <a:ln/>
        </p:spPr>
      </p:sp>
      <p:pic>
        <p:nvPicPr>
          <p:cNvPr id="15" name="Image 2" descr="images/icon_warning.png">    </p:cNvPr>
          <p:cNvPicPr>
            <a:picLocks noChangeAspect="1"/>
          </p:cNvPicPr>
          <p:nvPr/>
        </p:nvPicPr>
        <p:blipFill>
          <a:blip r:embed="rId3"/>
          <a:stretch>
            <a:fillRect/>
          </a:stretch>
        </p:blipFill>
        <p:spPr>
          <a:xfrm>
            <a:off x="8165592" y="3063240"/>
            <a:ext cx="219456" cy="219456"/>
          </a:xfrm>
          <a:prstGeom prst="rect">
            <a:avLst/>
          </a:prstGeom>
        </p:spPr>
      </p:pic>
      <p:sp>
        <p:nvSpPr>
          <p:cNvPr id="16" name="Text 11"/>
          <p:cNvSpPr/>
          <p:nvPr/>
        </p:nvSpPr>
        <p:spPr>
          <a:xfrm>
            <a:off x="8650224" y="2962656"/>
            <a:ext cx="2788920" cy="420624"/>
          </a:xfrm>
          <a:prstGeom prst="rect">
            <a:avLst/>
          </a:prstGeom>
          <a:noFill/>
          <a:ln/>
        </p:spPr>
        <p:txBody>
          <a:bodyPr wrap="square" lIns="0" tIns="0" rIns="0" bIns="0" rtlCol="0" anchor="ctr"/>
          <a:lstStyle/>
          <a:p>
            <a:pPr indent="0" marL="0">
              <a:buNone/>
            </a:pPr>
            <a:r>
              <a:rPr lang="en-US" sz="1200" dirty="0">
                <a:solidFill>
                  <a:srgbClr val="EFE9F5"/>
                </a:solidFill>
                <a:latin typeface="Calibri" pitchFamily="34" charset="0"/>
                <a:ea typeface="Calibri" pitchFamily="34" charset="-122"/>
                <a:cs typeface="Calibri" pitchFamily="34" charset="-120"/>
              </a:rPr>
              <a:t>Earthquake &amp; structural hazards</a:t>
            </a:r>
            <a:endParaRPr lang="en-US" sz="1200" dirty="0"/>
          </a:p>
        </p:txBody>
      </p:sp>
      <p:sp>
        <p:nvSpPr>
          <p:cNvPr id="17" name="Shape 12"/>
          <p:cNvSpPr/>
          <p:nvPr/>
        </p:nvSpPr>
        <p:spPr>
          <a:xfrm>
            <a:off x="8046720" y="3602736"/>
            <a:ext cx="457200" cy="457200"/>
          </a:xfrm>
          <a:prstGeom prst="ellipse">
            <a:avLst/>
          </a:prstGeom>
          <a:solidFill>
            <a:srgbClr val="990011"/>
          </a:solidFill>
          <a:ln/>
        </p:spPr>
      </p:sp>
      <p:pic>
        <p:nvPicPr>
          <p:cNvPr id="18" name="Image 3" descr="images/icon_users.png">    </p:cNvPr>
          <p:cNvPicPr>
            <a:picLocks noChangeAspect="1"/>
          </p:cNvPicPr>
          <p:nvPr/>
        </p:nvPicPr>
        <p:blipFill>
          <a:blip r:embed="rId4"/>
          <a:stretch>
            <a:fillRect/>
          </a:stretch>
        </p:blipFill>
        <p:spPr>
          <a:xfrm>
            <a:off x="8165592" y="3721608"/>
            <a:ext cx="219456" cy="219456"/>
          </a:xfrm>
          <a:prstGeom prst="rect">
            <a:avLst/>
          </a:prstGeom>
        </p:spPr>
      </p:pic>
      <p:sp>
        <p:nvSpPr>
          <p:cNvPr id="19" name="Text 13"/>
          <p:cNvSpPr/>
          <p:nvPr/>
        </p:nvSpPr>
        <p:spPr>
          <a:xfrm>
            <a:off x="8650224" y="3621024"/>
            <a:ext cx="2788920" cy="420624"/>
          </a:xfrm>
          <a:prstGeom prst="rect">
            <a:avLst/>
          </a:prstGeom>
          <a:noFill/>
          <a:ln/>
        </p:spPr>
        <p:txBody>
          <a:bodyPr wrap="square" lIns="0" tIns="0" rIns="0" bIns="0" rtlCol="0" anchor="ctr"/>
          <a:lstStyle/>
          <a:p>
            <a:pPr indent="0" marL="0">
              <a:buNone/>
            </a:pPr>
            <a:r>
              <a:rPr lang="en-US" sz="1200" dirty="0">
                <a:solidFill>
                  <a:srgbClr val="EFE9F5"/>
                </a:solidFill>
                <a:latin typeface="Calibri" pitchFamily="34" charset="0"/>
                <a:ea typeface="Calibri" pitchFamily="34" charset="-122"/>
                <a:cs typeface="Calibri" pitchFamily="34" charset="-120"/>
              </a:rPr>
              <a:t>Crowd congestion at exits</a:t>
            </a:r>
            <a:endParaRPr lang="en-US" sz="1200" dirty="0"/>
          </a:p>
        </p:txBody>
      </p:sp>
      <p:sp>
        <p:nvSpPr>
          <p:cNvPr id="20" name="Shape 14"/>
          <p:cNvSpPr/>
          <p:nvPr/>
        </p:nvSpPr>
        <p:spPr>
          <a:xfrm>
            <a:off x="8046720" y="4306824"/>
            <a:ext cx="3246120" cy="0"/>
          </a:xfrm>
          <a:prstGeom prst="line">
            <a:avLst/>
          </a:prstGeom>
          <a:noFill/>
          <a:ln w="12700">
            <a:solidFill>
              <a:srgbClr val="5B6AAE"/>
            </a:solidFill>
            <a:prstDash val="solid"/>
          </a:ln>
        </p:spPr>
      </p:sp>
      <p:sp>
        <p:nvSpPr>
          <p:cNvPr id="21" name="Text 15"/>
          <p:cNvSpPr/>
          <p:nvPr/>
        </p:nvSpPr>
        <p:spPr>
          <a:xfrm>
            <a:off x="8046720" y="4443984"/>
            <a:ext cx="3291840" cy="274320"/>
          </a:xfrm>
          <a:prstGeom prst="rect">
            <a:avLst/>
          </a:prstGeom>
          <a:noFill/>
          <a:ln/>
        </p:spPr>
        <p:txBody>
          <a:bodyPr wrap="square" lIns="0" tIns="0" rIns="0" bIns="0" rtlCol="0" anchor="ctr"/>
          <a:lstStyle/>
          <a:p>
            <a:pPr indent="0" marL="0">
              <a:buNone/>
            </a:pPr>
            <a:r>
              <a:rPr lang="en-US" sz="1200" b="1" dirty="0">
                <a:solidFill>
                  <a:srgbClr val="FFD9DC"/>
                </a:solidFill>
                <a:latin typeface="Calibri" pitchFamily="34" charset="0"/>
                <a:ea typeface="Calibri" pitchFamily="34" charset="-122"/>
                <a:cs typeface="Calibri" pitchFamily="34" charset="-120"/>
              </a:rPr>
              <a:t>Goal</a:t>
            </a:r>
            <a:endParaRPr lang="en-US" sz="1200" dirty="0"/>
          </a:p>
        </p:txBody>
      </p:sp>
      <p:sp>
        <p:nvSpPr>
          <p:cNvPr id="22" name="Text 16"/>
          <p:cNvSpPr/>
          <p:nvPr/>
        </p:nvSpPr>
        <p:spPr>
          <a:xfrm>
            <a:off x="8046720" y="4736592"/>
            <a:ext cx="3291840" cy="1280160"/>
          </a:xfrm>
          <a:prstGeom prst="rect">
            <a:avLst/>
          </a:prstGeom>
          <a:noFill/>
          <a:ln/>
        </p:spPr>
        <p:txBody>
          <a:bodyPr wrap="square" lIns="0" tIns="0" rIns="0" bIns="0" rtlCol="0" anchor="t"/>
          <a:lstStyle/>
          <a:p>
            <a:pPr indent="0" marL="0">
              <a:buNone/>
            </a:pPr>
            <a:r>
              <a:rPr lang="en-US" sz="1250" i="1" dirty="0">
                <a:solidFill>
                  <a:srgbClr val="EFE9F5"/>
                </a:solidFill>
                <a:latin typeface="Calibri" pitchFamily="34" charset="0"/>
                <a:ea typeface="Calibri" pitchFamily="34" charset="-122"/>
                <a:cs typeface="Calibri" pitchFamily="34" charset="-120"/>
              </a:rPr>
              <a:t>Shortest safe path to an exit gate — not just the nearest one.</a:t>
            </a:r>
            <a:endParaRPr lang="en-US" sz="1250" dirty="0"/>
          </a:p>
        </p:txBody>
      </p:sp>
      <p:sp>
        <p:nvSpPr>
          <p:cNvPr id="23" name="Text 17"/>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50" dirty="0">
                <a:solidFill>
                  <a:srgbClr val="6B6360"/>
                </a:solidFill>
                <a:latin typeface="Calibri" pitchFamily="34" charset="0"/>
                <a:ea typeface="Calibri" pitchFamily="34" charset="-122"/>
                <a:cs typeface="Calibri" pitchFamily="34" charset="-120"/>
              </a:rPr>
              <a:t>Emergency Evacuation Path Planner</a:t>
            </a:r>
            <a:endParaRPr lang="en-US" sz="950" dirty="0"/>
          </a:p>
        </p:txBody>
      </p:sp>
      <p:sp>
        <p:nvSpPr>
          <p:cNvPr id="24" name="Text 18"/>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50" dirty="0">
                <a:solidFill>
                  <a:srgbClr val="6B6360"/>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6F5"/>
        </a:solidFill>
      </p:bgPr>
    </p:bg>
    <p:spTree>
      <p:nvGrpSpPr>
        <p:cNvPr id="1" name=""/>
        <p:cNvGrpSpPr/>
        <p:nvPr/>
      </p:nvGrpSpPr>
      <p:grpSpPr>
        <a:xfrm>
          <a:off x="0" y="0"/>
          <a:ext cx="0" cy="0"/>
          <a:chOff x="0" y="0"/>
          <a:chExt cx="0" cy="0"/>
        </a:xfrm>
      </p:grpSpPr>
      <p:sp>
        <p:nvSpPr>
          <p:cNvPr id="2" name="Text 0"/>
          <p:cNvSpPr/>
          <p:nvPr/>
        </p:nvSpPr>
        <p:spPr>
          <a:xfrm>
            <a:off x="548640" y="384048"/>
            <a:ext cx="8229600" cy="292608"/>
          </a:xfrm>
          <a:prstGeom prst="rect">
            <a:avLst/>
          </a:prstGeom>
          <a:noFill/>
          <a:ln/>
        </p:spPr>
        <p:txBody>
          <a:bodyPr wrap="square" lIns="0" tIns="0" rIns="0" bIns="0" rtlCol="0" anchor="ctr"/>
          <a:lstStyle/>
          <a:p>
            <a:pPr indent="0" marL="0">
              <a:buNone/>
            </a:pPr>
            <a:r>
              <a:rPr lang="en-US" sz="1300" b="1" spc="200" kern="0" dirty="0">
                <a:solidFill>
                  <a:srgbClr val="990011"/>
                </a:solidFill>
                <a:latin typeface="Calibri" pitchFamily="34" charset="0"/>
                <a:ea typeface="Calibri" pitchFamily="34" charset="-122"/>
                <a:cs typeface="Calibri" pitchFamily="34" charset="-120"/>
              </a:rPr>
              <a:t>MOTIVATION</a:t>
            </a:r>
            <a:endParaRPr lang="en-US" sz="1300" dirty="0"/>
          </a:p>
        </p:txBody>
      </p:sp>
      <p:sp>
        <p:nvSpPr>
          <p:cNvPr id="3" name="Text 1"/>
          <p:cNvSpPr/>
          <p:nvPr/>
        </p:nvSpPr>
        <p:spPr>
          <a:xfrm>
            <a:off x="530352" y="658368"/>
            <a:ext cx="10607040" cy="566928"/>
          </a:xfrm>
          <a:prstGeom prst="rect">
            <a:avLst/>
          </a:prstGeom>
          <a:noFill/>
          <a:ln/>
        </p:spPr>
        <p:txBody>
          <a:bodyPr wrap="square" lIns="0" tIns="0" rIns="0" bIns="0" rtlCol="0" anchor="ctr"/>
          <a:lstStyle/>
          <a:p>
            <a:pPr indent="0" marL="0">
              <a:buNone/>
            </a:pPr>
            <a:r>
              <a:rPr lang="en-US" sz="3000" b="1" dirty="0">
                <a:solidFill>
                  <a:srgbClr val="2F3C7E"/>
                </a:solidFill>
                <a:latin typeface="Cambria" pitchFamily="34" charset="0"/>
                <a:ea typeface="Cambria" pitchFamily="34" charset="-122"/>
                <a:cs typeface="Cambria" pitchFamily="34" charset="-120"/>
              </a:rPr>
              <a:t>Problem Statement</a:t>
            </a:r>
            <a:endParaRPr lang="en-US" sz="3000" dirty="0"/>
          </a:p>
        </p:txBody>
      </p:sp>
      <p:sp>
        <p:nvSpPr>
          <p:cNvPr id="4" name="Shape 2"/>
          <p:cNvSpPr/>
          <p:nvPr/>
        </p:nvSpPr>
        <p:spPr>
          <a:xfrm>
            <a:off x="548640" y="1508760"/>
            <a:ext cx="5486400" cy="1481328"/>
          </a:xfrm>
          <a:prstGeom prst="roundRect">
            <a:avLst>
              <a:gd name="adj" fmla="val 5556"/>
            </a:avLst>
          </a:prstGeom>
          <a:solidFill>
            <a:srgbClr val="FFFFFF"/>
          </a:solidFill>
          <a:ln/>
          <a:effectLst>
            <a:outerShdw sx="100000" sy="100000" kx="0" ky="0" algn="bl" rotWithShape="0" blurRad="101600" dist="38100" dir="5400000">
              <a:srgbClr val="1A1A1A">
                <a:alpha val="12000"/>
              </a:srgbClr>
            </a:outerShdw>
          </a:effectLst>
        </p:spPr>
      </p:sp>
      <p:sp>
        <p:nvSpPr>
          <p:cNvPr id="5" name="Shape 3"/>
          <p:cNvSpPr/>
          <p:nvPr/>
        </p:nvSpPr>
        <p:spPr>
          <a:xfrm>
            <a:off x="804672" y="1801368"/>
            <a:ext cx="566928" cy="566928"/>
          </a:xfrm>
          <a:prstGeom prst="ellipse">
            <a:avLst/>
          </a:prstGeom>
          <a:solidFill>
            <a:srgbClr val="990011"/>
          </a:solidFill>
          <a:ln/>
        </p:spPr>
      </p:sp>
      <p:pic>
        <p:nvPicPr>
          <p:cNvPr id="6" name="Image 0" descr="images/icon_warning.png">    </p:cNvPr>
          <p:cNvPicPr>
            <a:picLocks noChangeAspect="1"/>
          </p:cNvPicPr>
          <p:nvPr/>
        </p:nvPicPr>
        <p:blipFill>
          <a:blip r:embed="rId1"/>
          <a:stretch>
            <a:fillRect/>
          </a:stretch>
        </p:blipFill>
        <p:spPr>
          <a:xfrm>
            <a:off x="952073" y="1948769"/>
            <a:ext cx="272125" cy="272125"/>
          </a:xfrm>
          <a:prstGeom prst="rect">
            <a:avLst/>
          </a:prstGeom>
        </p:spPr>
      </p:pic>
      <p:sp>
        <p:nvSpPr>
          <p:cNvPr id="7" name="Text 4"/>
          <p:cNvSpPr/>
          <p:nvPr/>
        </p:nvSpPr>
        <p:spPr>
          <a:xfrm>
            <a:off x="1554480" y="1673352"/>
            <a:ext cx="4206240" cy="1152144"/>
          </a:xfrm>
          <a:prstGeom prst="rect">
            <a:avLst/>
          </a:prstGeom>
          <a:noFill/>
          <a:ln/>
        </p:spPr>
        <p:txBody>
          <a:bodyPr wrap="square" lIns="0" tIns="0" rIns="0" bIns="0" rtlCol="0" anchor="ctr"/>
          <a:lstStyle/>
          <a:p>
            <a:pPr indent="0" marL="0">
              <a:lnSpc>
                <a:spcPct val="105000"/>
              </a:lnSpc>
              <a:buNone/>
            </a:pPr>
            <a:r>
              <a:rPr lang="en-US" sz="1300" dirty="0">
                <a:solidFill>
                  <a:srgbClr val="262220"/>
                </a:solidFill>
                <a:latin typeface="Calibri" pitchFamily="34" charset="0"/>
                <a:ea typeface="Calibri" pitchFamily="34" charset="-122"/>
                <a:cs typeface="Calibri" pitchFamily="34" charset="-120"/>
              </a:rPr>
              <a:t>Static evacuation signage cannot adapt when fire or smoke blocks the marked route.</a:t>
            </a:r>
            <a:endParaRPr lang="en-US" sz="1300" dirty="0"/>
          </a:p>
        </p:txBody>
      </p:sp>
      <p:sp>
        <p:nvSpPr>
          <p:cNvPr id="8" name="Shape 5"/>
          <p:cNvSpPr/>
          <p:nvPr/>
        </p:nvSpPr>
        <p:spPr>
          <a:xfrm>
            <a:off x="6355080" y="1508760"/>
            <a:ext cx="5486400" cy="1481328"/>
          </a:xfrm>
          <a:prstGeom prst="roundRect">
            <a:avLst>
              <a:gd name="adj" fmla="val 5556"/>
            </a:avLst>
          </a:prstGeom>
          <a:solidFill>
            <a:srgbClr val="FFFFFF"/>
          </a:solidFill>
          <a:ln/>
          <a:effectLst>
            <a:outerShdw sx="100000" sy="100000" kx="0" ky="0" algn="bl" rotWithShape="0" blurRad="101600" dist="38100" dir="5400000">
              <a:srgbClr val="1A1A1A">
                <a:alpha val="12000"/>
              </a:srgbClr>
            </a:outerShdw>
          </a:effectLst>
        </p:spPr>
      </p:sp>
      <p:sp>
        <p:nvSpPr>
          <p:cNvPr id="9" name="Shape 6"/>
          <p:cNvSpPr/>
          <p:nvPr/>
        </p:nvSpPr>
        <p:spPr>
          <a:xfrm>
            <a:off x="6611112" y="1801368"/>
            <a:ext cx="566928" cy="566928"/>
          </a:xfrm>
          <a:prstGeom prst="ellipse">
            <a:avLst/>
          </a:prstGeom>
          <a:solidFill>
            <a:srgbClr val="990011"/>
          </a:solidFill>
          <a:ln/>
        </p:spPr>
      </p:sp>
      <p:pic>
        <p:nvPicPr>
          <p:cNvPr id="10" name="Image 1" descr="images/icon_users.png">    </p:cNvPr>
          <p:cNvPicPr>
            <a:picLocks noChangeAspect="1"/>
          </p:cNvPicPr>
          <p:nvPr/>
        </p:nvPicPr>
        <p:blipFill>
          <a:blip r:embed="rId2"/>
          <a:stretch>
            <a:fillRect/>
          </a:stretch>
        </p:blipFill>
        <p:spPr>
          <a:xfrm>
            <a:off x="6758513" y="1948769"/>
            <a:ext cx="272125" cy="272125"/>
          </a:xfrm>
          <a:prstGeom prst="rect">
            <a:avLst/>
          </a:prstGeom>
        </p:spPr>
      </p:pic>
      <p:sp>
        <p:nvSpPr>
          <p:cNvPr id="11" name="Text 7"/>
          <p:cNvSpPr/>
          <p:nvPr/>
        </p:nvSpPr>
        <p:spPr>
          <a:xfrm>
            <a:off x="7360920" y="1673352"/>
            <a:ext cx="4206240" cy="1152144"/>
          </a:xfrm>
          <a:prstGeom prst="rect">
            <a:avLst/>
          </a:prstGeom>
          <a:noFill/>
          <a:ln/>
        </p:spPr>
        <p:txBody>
          <a:bodyPr wrap="square" lIns="0" tIns="0" rIns="0" bIns="0" rtlCol="0" anchor="ctr"/>
          <a:lstStyle/>
          <a:p>
            <a:pPr indent="0" marL="0">
              <a:lnSpc>
                <a:spcPct val="105000"/>
              </a:lnSpc>
              <a:buNone/>
            </a:pPr>
            <a:r>
              <a:rPr lang="en-US" sz="1300" dirty="0">
                <a:solidFill>
                  <a:srgbClr val="262220"/>
                </a:solidFill>
                <a:latin typeface="Calibri" pitchFamily="34" charset="0"/>
                <a:ea typeface="Calibri" pitchFamily="34" charset="-122"/>
                <a:cs typeface="Calibri" pitchFamily="34" charset="-120"/>
              </a:rPr>
              <a:t>Manual planning ignores real-time congestion, risking bottlenecks at popular exits.</a:t>
            </a:r>
            <a:endParaRPr lang="en-US" sz="1300" dirty="0"/>
          </a:p>
        </p:txBody>
      </p:sp>
      <p:sp>
        <p:nvSpPr>
          <p:cNvPr id="12" name="Shape 8"/>
          <p:cNvSpPr/>
          <p:nvPr/>
        </p:nvSpPr>
        <p:spPr>
          <a:xfrm>
            <a:off x="548640" y="3264408"/>
            <a:ext cx="5486400" cy="1481328"/>
          </a:xfrm>
          <a:prstGeom prst="roundRect">
            <a:avLst>
              <a:gd name="adj" fmla="val 5556"/>
            </a:avLst>
          </a:prstGeom>
          <a:solidFill>
            <a:srgbClr val="FFFFFF"/>
          </a:solidFill>
          <a:ln/>
          <a:effectLst>
            <a:outerShdw sx="100000" sy="100000" kx="0" ky="0" algn="bl" rotWithShape="0" blurRad="101600" dist="38100" dir="5400000">
              <a:srgbClr val="1A1A1A">
                <a:alpha val="12000"/>
              </a:srgbClr>
            </a:outerShdw>
          </a:effectLst>
        </p:spPr>
      </p:sp>
      <p:sp>
        <p:nvSpPr>
          <p:cNvPr id="13" name="Shape 9"/>
          <p:cNvSpPr/>
          <p:nvPr/>
        </p:nvSpPr>
        <p:spPr>
          <a:xfrm>
            <a:off x="804672" y="3557016"/>
            <a:ext cx="566928" cy="566928"/>
          </a:xfrm>
          <a:prstGeom prst="ellipse">
            <a:avLst/>
          </a:prstGeom>
          <a:solidFill>
            <a:srgbClr val="990011"/>
          </a:solidFill>
          <a:ln/>
        </p:spPr>
      </p:sp>
      <p:pic>
        <p:nvPicPr>
          <p:cNvPr id="14" name="Image 2" descr="images/icon_route.png">    </p:cNvPr>
          <p:cNvPicPr>
            <a:picLocks noChangeAspect="1"/>
          </p:cNvPicPr>
          <p:nvPr/>
        </p:nvPicPr>
        <p:blipFill>
          <a:blip r:embed="rId3"/>
          <a:stretch>
            <a:fillRect/>
          </a:stretch>
        </p:blipFill>
        <p:spPr>
          <a:xfrm>
            <a:off x="952073" y="3704417"/>
            <a:ext cx="272125" cy="272125"/>
          </a:xfrm>
          <a:prstGeom prst="rect">
            <a:avLst/>
          </a:prstGeom>
        </p:spPr>
      </p:pic>
      <p:sp>
        <p:nvSpPr>
          <p:cNvPr id="15" name="Text 10"/>
          <p:cNvSpPr/>
          <p:nvPr/>
        </p:nvSpPr>
        <p:spPr>
          <a:xfrm>
            <a:off x="1554480" y="3429000"/>
            <a:ext cx="4206240" cy="1152144"/>
          </a:xfrm>
          <a:prstGeom prst="rect">
            <a:avLst/>
          </a:prstGeom>
          <a:noFill/>
          <a:ln/>
        </p:spPr>
        <p:txBody>
          <a:bodyPr wrap="square" lIns="0" tIns="0" rIns="0" bIns="0" rtlCol="0" anchor="ctr"/>
          <a:lstStyle/>
          <a:p>
            <a:pPr indent="0" marL="0">
              <a:lnSpc>
                <a:spcPct val="105000"/>
              </a:lnSpc>
              <a:buNone/>
            </a:pPr>
            <a:r>
              <a:rPr lang="en-US" sz="1300" dirty="0">
                <a:solidFill>
                  <a:srgbClr val="262220"/>
                </a:solidFill>
                <a:latin typeface="Calibri" pitchFamily="34" charset="0"/>
                <a:ea typeface="Calibri" pitchFamily="34" charset="-122"/>
                <a:cs typeface="Calibri" pitchFamily="34" charset="-120"/>
              </a:rPr>
              <a:t>Occupants may be guided toward, rather than away from, an active danger zone.</a:t>
            </a:r>
            <a:endParaRPr lang="en-US" sz="1300" dirty="0"/>
          </a:p>
        </p:txBody>
      </p:sp>
      <p:sp>
        <p:nvSpPr>
          <p:cNvPr id="16" name="Shape 11"/>
          <p:cNvSpPr/>
          <p:nvPr/>
        </p:nvSpPr>
        <p:spPr>
          <a:xfrm>
            <a:off x="6355080" y="3264408"/>
            <a:ext cx="5486400" cy="1481328"/>
          </a:xfrm>
          <a:prstGeom prst="roundRect">
            <a:avLst>
              <a:gd name="adj" fmla="val 5556"/>
            </a:avLst>
          </a:prstGeom>
          <a:solidFill>
            <a:srgbClr val="FFFFFF"/>
          </a:solidFill>
          <a:ln/>
          <a:effectLst>
            <a:outerShdw sx="100000" sy="100000" kx="0" ky="0" algn="bl" rotWithShape="0" blurRad="101600" dist="38100" dir="5400000">
              <a:srgbClr val="1A1A1A">
                <a:alpha val="12000"/>
              </a:srgbClr>
            </a:outerShdw>
          </a:effectLst>
        </p:spPr>
      </p:sp>
      <p:sp>
        <p:nvSpPr>
          <p:cNvPr id="17" name="Shape 12"/>
          <p:cNvSpPr/>
          <p:nvPr/>
        </p:nvSpPr>
        <p:spPr>
          <a:xfrm>
            <a:off x="6611112" y="3557016"/>
            <a:ext cx="566928" cy="566928"/>
          </a:xfrm>
          <a:prstGeom prst="ellipse">
            <a:avLst/>
          </a:prstGeom>
          <a:solidFill>
            <a:srgbClr val="990011"/>
          </a:solidFill>
          <a:ln/>
        </p:spPr>
      </p:sp>
      <p:pic>
        <p:nvPicPr>
          <p:cNvPr id="18" name="Image 3" descr="images/icon_balance.png">    </p:cNvPr>
          <p:cNvPicPr>
            <a:picLocks noChangeAspect="1"/>
          </p:cNvPicPr>
          <p:nvPr/>
        </p:nvPicPr>
        <p:blipFill>
          <a:blip r:embed="rId4"/>
          <a:stretch>
            <a:fillRect/>
          </a:stretch>
        </p:blipFill>
        <p:spPr>
          <a:xfrm>
            <a:off x="6758513" y="3704417"/>
            <a:ext cx="272125" cy="272125"/>
          </a:xfrm>
          <a:prstGeom prst="rect">
            <a:avLst/>
          </a:prstGeom>
        </p:spPr>
      </p:pic>
      <p:sp>
        <p:nvSpPr>
          <p:cNvPr id="19" name="Text 13"/>
          <p:cNvSpPr/>
          <p:nvPr/>
        </p:nvSpPr>
        <p:spPr>
          <a:xfrm>
            <a:off x="7360920" y="3429000"/>
            <a:ext cx="4206240" cy="1152144"/>
          </a:xfrm>
          <a:prstGeom prst="rect">
            <a:avLst/>
          </a:prstGeom>
          <a:noFill/>
          <a:ln/>
        </p:spPr>
        <p:txBody>
          <a:bodyPr wrap="square" lIns="0" tIns="0" rIns="0" bIns="0" rtlCol="0" anchor="ctr"/>
          <a:lstStyle/>
          <a:p>
            <a:pPr indent="0" marL="0">
              <a:lnSpc>
                <a:spcPct val="105000"/>
              </a:lnSpc>
              <a:buNone/>
            </a:pPr>
            <a:r>
              <a:rPr lang="en-US" sz="1300" dirty="0">
                <a:solidFill>
                  <a:srgbClr val="262220"/>
                </a:solidFill>
                <a:latin typeface="Calibri" pitchFamily="34" charset="0"/>
                <a:ea typeface="Calibri" pitchFamily="34" charset="-122"/>
                <a:cs typeface="Calibri" pitchFamily="34" charset="-120"/>
              </a:rPr>
              <a:t>Existing systems rarely weigh competing factors — like hazard spread versus travel time — together.</a:t>
            </a:r>
            <a:endParaRPr lang="en-US" sz="1300" dirty="0"/>
          </a:p>
        </p:txBody>
      </p:sp>
      <p:sp>
        <p:nvSpPr>
          <p:cNvPr id="20" name="Shape 14"/>
          <p:cNvSpPr/>
          <p:nvPr/>
        </p:nvSpPr>
        <p:spPr>
          <a:xfrm>
            <a:off x="548640" y="5020056"/>
            <a:ext cx="5486400" cy="1481328"/>
          </a:xfrm>
          <a:prstGeom prst="roundRect">
            <a:avLst>
              <a:gd name="adj" fmla="val 5556"/>
            </a:avLst>
          </a:prstGeom>
          <a:solidFill>
            <a:srgbClr val="FFFFFF"/>
          </a:solidFill>
          <a:ln/>
          <a:effectLst>
            <a:outerShdw sx="100000" sy="100000" kx="0" ky="0" algn="bl" rotWithShape="0" blurRad="101600" dist="38100" dir="5400000">
              <a:srgbClr val="1A1A1A">
                <a:alpha val="12000"/>
              </a:srgbClr>
            </a:outerShdw>
          </a:effectLst>
        </p:spPr>
      </p:sp>
      <p:sp>
        <p:nvSpPr>
          <p:cNvPr id="21" name="Shape 15"/>
          <p:cNvSpPr/>
          <p:nvPr/>
        </p:nvSpPr>
        <p:spPr>
          <a:xfrm>
            <a:off x="804672" y="5312664"/>
            <a:ext cx="566928" cy="566928"/>
          </a:xfrm>
          <a:prstGeom prst="ellipse">
            <a:avLst/>
          </a:prstGeom>
          <a:solidFill>
            <a:srgbClr val="990011"/>
          </a:solidFill>
          <a:ln/>
        </p:spPr>
      </p:sp>
      <p:pic>
        <p:nvPicPr>
          <p:cNvPr id="22" name="Image 4" descr="images/icon_search.png">    </p:cNvPr>
          <p:cNvPicPr>
            <a:picLocks noChangeAspect="1"/>
          </p:cNvPicPr>
          <p:nvPr/>
        </p:nvPicPr>
        <p:blipFill>
          <a:blip r:embed="rId5"/>
          <a:stretch>
            <a:fillRect/>
          </a:stretch>
        </p:blipFill>
        <p:spPr>
          <a:xfrm>
            <a:off x="952073" y="5460065"/>
            <a:ext cx="272125" cy="272125"/>
          </a:xfrm>
          <a:prstGeom prst="rect">
            <a:avLst/>
          </a:prstGeom>
        </p:spPr>
      </p:pic>
      <p:sp>
        <p:nvSpPr>
          <p:cNvPr id="23" name="Text 16"/>
          <p:cNvSpPr/>
          <p:nvPr/>
        </p:nvSpPr>
        <p:spPr>
          <a:xfrm>
            <a:off x="1554480" y="5184648"/>
            <a:ext cx="4206240" cy="1152144"/>
          </a:xfrm>
          <a:prstGeom prst="rect">
            <a:avLst/>
          </a:prstGeom>
          <a:noFill/>
          <a:ln/>
        </p:spPr>
        <p:txBody>
          <a:bodyPr wrap="square" lIns="0" tIns="0" rIns="0" bIns="0" rtlCol="0" anchor="ctr"/>
          <a:lstStyle/>
          <a:p>
            <a:pPr indent="0" marL="0">
              <a:lnSpc>
                <a:spcPct val="105000"/>
              </a:lnSpc>
              <a:buNone/>
            </a:pPr>
            <a:r>
              <a:rPr lang="en-US" sz="1300" dirty="0">
                <a:solidFill>
                  <a:srgbClr val="262220"/>
                </a:solidFill>
                <a:latin typeface="Calibri" pitchFamily="34" charset="0"/>
                <a:ea typeface="Calibri" pitchFamily="34" charset="-122"/>
                <a:cs typeface="Calibri" pitchFamily="34" charset="-120"/>
              </a:rPr>
              <a:t>No automated reasoning exists to re-evaluate the safest path as conditions change.</a:t>
            </a:r>
            <a:endParaRPr lang="en-US" sz="1300" dirty="0"/>
          </a:p>
        </p:txBody>
      </p:sp>
      <p:sp>
        <p:nvSpPr>
          <p:cNvPr id="24" name="Text 17"/>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50" dirty="0">
                <a:solidFill>
                  <a:srgbClr val="6B6360"/>
                </a:solidFill>
                <a:latin typeface="Calibri" pitchFamily="34" charset="0"/>
                <a:ea typeface="Calibri" pitchFamily="34" charset="-122"/>
                <a:cs typeface="Calibri" pitchFamily="34" charset="-120"/>
              </a:rPr>
              <a:t>Emergency Evacuation Path Planner</a:t>
            </a:r>
            <a:endParaRPr lang="en-US" sz="950" dirty="0"/>
          </a:p>
        </p:txBody>
      </p:sp>
      <p:sp>
        <p:nvSpPr>
          <p:cNvPr id="25" name="Text 18"/>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50" dirty="0">
                <a:solidFill>
                  <a:srgbClr val="6B6360"/>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6F5"/>
        </a:solidFill>
      </p:bgPr>
    </p:bg>
    <p:spTree>
      <p:nvGrpSpPr>
        <p:cNvPr id="1" name=""/>
        <p:cNvGrpSpPr/>
        <p:nvPr/>
      </p:nvGrpSpPr>
      <p:grpSpPr>
        <a:xfrm>
          <a:off x="0" y="0"/>
          <a:ext cx="0" cy="0"/>
          <a:chOff x="0" y="0"/>
          <a:chExt cx="0" cy="0"/>
        </a:xfrm>
      </p:grpSpPr>
      <p:sp>
        <p:nvSpPr>
          <p:cNvPr id="2" name="Text 0"/>
          <p:cNvSpPr/>
          <p:nvPr/>
        </p:nvSpPr>
        <p:spPr>
          <a:xfrm>
            <a:off x="548640" y="384048"/>
            <a:ext cx="8229600" cy="292608"/>
          </a:xfrm>
          <a:prstGeom prst="rect">
            <a:avLst/>
          </a:prstGeom>
          <a:noFill/>
          <a:ln/>
        </p:spPr>
        <p:txBody>
          <a:bodyPr wrap="square" lIns="0" tIns="0" rIns="0" bIns="0" rtlCol="0" anchor="ctr"/>
          <a:lstStyle/>
          <a:p>
            <a:pPr indent="0" marL="0">
              <a:buNone/>
            </a:pPr>
            <a:r>
              <a:rPr lang="en-US" sz="1300" b="1" spc="200" kern="0" dirty="0">
                <a:solidFill>
                  <a:srgbClr val="990011"/>
                </a:solidFill>
                <a:latin typeface="Calibri" pitchFamily="34" charset="0"/>
                <a:ea typeface="Calibri" pitchFamily="34" charset="-122"/>
                <a:cs typeface="Calibri" pitchFamily="34" charset="-120"/>
              </a:rPr>
              <a:t>INTELLIGENT AGENT DESIGN</a:t>
            </a:r>
            <a:endParaRPr lang="en-US" sz="1300" dirty="0"/>
          </a:p>
        </p:txBody>
      </p:sp>
      <p:sp>
        <p:nvSpPr>
          <p:cNvPr id="3" name="Text 1"/>
          <p:cNvSpPr/>
          <p:nvPr/>
        </p:nvSpPr>
        <p:spPr>
          <a:xfrm>
            <a:off x="530352" y="658368"/>
            <a:ext cx="10607040" cy="566928"/>
          </a:xfrm>
          <a:prstGeom prst="rect">
            <a:avLst/>
          </a:prstGeom>
          <a:noFill/>
          <a:ln/>
        </p:spPr>
        <p:txBody>
          <a:bodyPr wrap="square" lIns="0" tIns="0" rIns="0" bIns="0" rtlCol="0" anchor="ctr"/>
          <a:lstStyle/>
          <a:p>
            <a:pPr indent="0" marL="0">
              <a:buNone/>
            </a:pPr>
            <a:r>
              <a:rPr lang="en-US" sz="3000" b="1" dirty="0">
                <a:solidFill>
                  <a:srgbClr val="2F3C7E"/>
                </a:solidFill>
                <a:latin typeface="Cambria" pitchFamily="34" charset="0"/>
                <a:ea typeface="Cambria" pitchFamily="34" charset="-122"/>
                <a:cs typeface="Cambria" pitchFamily="34" charset="-120"/>
              </a:rPr>
              <a:t>PEAS Description</a:t>
            </a:r>
            <a:endParaRPr lang="en-US" sz="3000" dirty="0"/>
          </a:p>
        </p:txBody>
      </p:sp>
      <p:sp>
        <p:nvSpPr>
          <p:cNvPr id="4" name="Shape 2"/>
          <p:cNvSpPr/>
          <p:nvPr/>
        </p:nvSpPr>
        <p:spPr>
          <a:xfrm>
            <a:off x="548640" y="1508760"/>
            <a:ext cx="3611880" cy="4251960"/>
          </a:xfrm>
          <a:prstGeom prst="roundRect">
            <a:avLst>
              <a:gd name="adj" fmla="val 2278"/>
            </a:avLst>
          </a:prstGeom>
          <a:solidFill>
            <a:srgbClr val="FFFFFF"/>
          </a:solidFill>
          <a:ln/>
          <a:effectLst>
            <a:outerShdw sx="100000" sy="100000" kx="0" ky="0" algn="bl" rotWithShape="0" blurRad="101600" dist="38100" dir="5400000">
              <a:srgbClr val="1A1A1A">
                <a:alpha val="12000"/>
              </a:srgbClr>
            </a:outerShdw>
          </a:effectLst>
        </p:spPr>
      </p:sp>
      <p:sp>
        <p:nvSpPr>
          <p:cNvPr id="5" name="Shape 3"/>
          <p:cNvSpPr/>
          <p:nvPr/>
        </p:nvSpPr>
        <p:spPr>
          <a:xfrm>
            <a:off x="548640" y="1508760"/>
            <a:ext cx="3611880" cy="914400"/>
          </a:xfrm>
          <a:prstGeom prst="roundRect">
            <a:avLst>
              <a:gd name="adj" fmla="val 9000"/>
            </a:avLst>
          </a:prstGeom>
          <a:solidFill>
            <a:srgbClr val="990011"/>
          </a:solidFill>
          <a:ln/>
        </p:spPr>
      </p:sp>
      <p:sp>
        <p:nvSpPr>
          <p:cNvPr id="6" name="Shape 4"/>
          <p:cNvSpPr/>
          <p:nvPr/>
        </p:nvSpPr>
        <p:spPr>
          <a:xfrm>
            <a:off x="548640" y="1965960"/>
            <a:ext cx="3611880" cy="457200"/>
          </a:xfrm>
          <a:prstGeom prst="rect">
            <a:avLst/>
          </a:prstGeom>
          <a:solidFill>
            <a:srgbClr val="990011"/>
          </a:solidFill>
          <a:ln/>
        </p:spPr>
      </p:sp>
      <p:sp>
        <p:nvSpPr>
          <p:cNvPr id="7" name="Shape 5"/>
          <p:cNvSpPr/>
          <p:nvPr/>
        </p:nvSpPr>
        <p:spPr>
          <a:xfrm>
            <a:off x="768096" y="1682496"/>
            <a:ext cx="566928" cy="566928"/>
          </a:xfrm>
          <a:prstGeom prst="ellipse">
            <a:avLst/>
          </a:prstGeom>
          <a:solidFill>
            <a:srgbClr val="000000">
              <a:alpha val="28000"/>
            </a:srgbClr>
          </a:solidFill>
          <a:ln w="15875">
            <a:solidFill>
              <a:srgbClr val="FFFFFF"/>
            </a:solidFill>
            <a:prstDash val="solid"/>
          </a:ln>
        </p:spPr>
      </p:sp>
      <p:pic>
        <p:nvPicPr>
          <p:cNvPr id="8" name="Image 0" descr="images/icon_target.png">    </p:cNvPr>
          <p:cNvPicPr>
            <a:picLocks noChangeAspect="1"/>
          </p:cNvPicPr>
          <p:nvPr/>
        </p:nvPicPr>
        <p:blipFill>
          <a:blip r:embed="rId1"/>
          <a:stretch>
            <a:fillRect/>
          </a:stretch>
        </p:blipFill>
        <p:spPr>
          <a:xfrm>
            <a:off x="914400" y="1828800"/>
            <a:ext cx="274320" cy="274320"/>
          </a:xfrm>
          <a:prstGeom prst="rect">
            <a:avLst/>
          </a:prstGeom>
        </p:spPr>
      </p:pic>
      <p:sp>
        <p:nvSpPr>
          <p:cNvPr id="9" name="Text 6"/>
          <p:cNvSpPr/>
          <p:nvPr/>
        </p:nvSpPr>
        <p:spPr>
          <a:xfrm>
            <a:off x="1508760" y="1673352"/>
            <a:ext cx="2423160" cy="310896"/>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Performance</a:t>
            </a:r>
            <a:endParaRPr lang="en-US" sz="1600" dirty="0"/>
          </a:p>
        </p:txBody>
      </p:sp>
      <p:sp>
        <p:nvSpPr>
          <p:cNvPr id="10" name="Text 7"/>
          <p:cNvSpPr/>
          <p:nvPr/>
        </p:nvSpPr>
        <p:spPr>
          <a:xfrm>
            <a:off x="1508760" y="2002536"/>
            <a:ext cx="2423160" cy="256032"/>
          </a:xfrm>
          <a:prstGeom prst="rect">
            <a:avLst/>
          </a:prstGeom>
          <a:noFill/>
          <a:ln/>
        </p:spPr>
        <p:txBody>
          <a:bodyPr wrap="square" lIns="0" tIns="0" rIns="0" bIns="0" rtlCol="0" anchor="ctr"/>
          <a:lstStyle/>
          <a:p>
            <a:pPr indent="0" marL="0">
              <a:buNone/>
            </a:pPr>
            <a:r>
              <a:rPr lang="en-US" sz="1050" i="1" dirty="0">
                <a:solidFill>
                  <a:srgbClr val="FFFFFF"/>
                </a:solidFill>
                <a:latin typeface="Calibri" pitchFamily="34" charset="0"/>
                <a:ea typeface="Calibri" pitchFamily="34" charset="-122"/>
                <a:cs typeface="Calibri" pitchFamily="34" charset="-120"/>
              </a:rPr>
              <a:t>Component (P)</a:t>
            </a:r>
            <a:endParaRPr lang="en-US" sz="1050" dirty="0"/>
          </a:p>
        </p:txBody>
      </p:sp>
      <p:sp>
        <p:nvSpPr>
          <p:cNvPr id="11" name="Shape 8"/>
          <p:cNvSpPr/>
          <p:nvPr/>
        </p:nvSpPr>
        <p:spPr>
          <a:xfrm>
            <a:off x="841248" y="2729484"/>
            <a:ext cx="91440" cy="91440"/>
          </a:xfrm>
          <a:prstGeom prst="ellipse">
            <a:avLst/>
          </a:prstGeom>
          <a:solidFill>
            <a:srgbClr val="990011"/>
          </a:solidFill>
          <a:ln/>
        </p:spPr>
      </p:sp>
      <p:sp>
        <p:nvSpPr>
          <p:cNvPr id="12" name="Text 9"/>
          <p:cNvSpPr/>
          <p:nvPr/>
        </p:nvSpPr>
        <p:spPr>
          <a:xfrm>
            <a:off x="1051560" y="2596896"/>
            <a:ext cx="2834640" cy="502920"/>
          </a:xfrm>
          <a:prstGeom prst="rect">
            <a:avLst/>
          </a:prstGeom>
          <a:noFill/>
          <a:ln/>
        </p:spPr>
        <p:txBody>
          <a:bodyPr wrap="square" lIns="0" tIns="0" rIns="0" bIns="0" rtlCol="0" anchor="t"/>
          <a:lstStyle/>
          <a:p>
            <a:pPr indent="0" marL="0">
              <a:lnSpc>
                <a:spcPct val="105000"/>
              </a:lnSpc>
              <a:buNone/>
            </a:pPr>
            <a:r>
              <a:rPr lang="en-US" sz="1250" dirty="0">
                <a:solidFill>
                  <a:srgbClr val="262220"/>
                </a:solidFill>
                <a:latin typeface="Calibri" pitchFamily="34" charset="0"/>
                <a:ea typeface="Calibri" pitchFamily="34" charset="-122"/>
                <a:cs typeface="Calibri" pitchFamily="34" charset="-120"/>
              </a:rPr>
              <a:t>Fastest evacuation, shortest safe path</a:t>
            </a:r>
            <a:endParaRPr lang="en-US" sz="1250" dirty="0"/>
          </a:p>
        </p:txBody>
      </p:sp>
      <p:sp>
        <p:nvSpPr>
          <p:cNvPr id="13" name="Shape 10"/>
          <p:cNvSpPr/>
          <p:nvPr/>
        </p:nvSpPr>
        <p:spPr>
          <a:xfrm>
            <a:off x="841248" y="3442716"/>
            <a:ext cx="91440" cy="91440"/>
          </a:xfrm>
          <a:prstGeom prst="ellipse">
            <a:avLst/>
          </a:prstGeom>
          <a:solidFill>
            <a:srgbClr val="990011"/>
          </a:solidFill>
          <a:ln/>
        </p:spPr>
      </p:sp>
      <p:sp>
        <p:nvSpPr>
          <p:cNvPr id="14" name="Text 11"/>
          <p:cNvSpPr/>
          <p:nvPr/>
        </p:nvSpPr>
        <p:spPr>
          <a:xfrm>
            <a:off x="1051560" y="3310128"/>
            <a:ext cx="2834640" cy="502920"/>
          </a:xfrm>
          <a:prstGeom prst="rect">
            <a:avLst/>
          </a:prstGeom>
          <a:noFill/>
          <a:ln/>
        </p:spPr>
        <p:txBody>
          <a:bodyPr wrap="square" lIns="0" tIns="0" rIns="0" bIns="0" rtlCol="0" anchor="t"/>
          <a:lstStyle/>
          <a:p>
            <a:pPr indent="0" marL="0">
              <a:lnSpc>
                <a:spcPct val="105000"/>
              </a:lnSpc>
              <a:buNone/>
            </a:pPr>
            <a:r>
              <a:rPr lang="en-US" sz="1250" dirty="0">
                <a:solidFill>
                  <a:srgbClr val="262220"/>
                </a:solidFill>
                <a:latin typeface="Calibri" pitchFamily="34" charset="0"/>
                <a:ea typeface="Calibri" pitchFamily="34" charset="-122"/>
                <a:cs typeface="Calibri" pitchFamily="34" charset="-120"/>
              </a:rPr>
              <a:t>Avoid danger zones</a:t>
            </a:r>
            <a:endParaRPr lang="en-US" sz="1250" dirty="0"/>
          </a:p>
        </p:txBody>
      </p:sp>
      <p:sp>
        <p:nvSpPr>
          <p:cNvPr id="15" name="Shape 12"/>
          <p:cNvSpPr/>
          <p:nvPr/>
        </p:nvSpPr>
        <p:spPr>
          <a:xfrm>
            <a:off x="841248" y="4155948"/>
            <a:ext cx="91440" cy="91440"/>
          </a:xfrm>
          <a:prstGeom prst="ellipse">
            <a:avLst/>
          </a:prstGeom>
          <a:solidFill>
            <a:srgbClr val="990011"/>
          </a:solidFill>
          <a:ln/>
        </p:spPr>
      </p:sp>
      <p:sp>
        <p:nvSpPr>
          <p:cNvPr id="16" name="Text 13"/>
          <p:cNvSpPr/>
          <p:nvPr/>
        </p:nvSpPr>
        <p:spPr>
          <a:xfrm>
            <a:off x="1051560" y="4023360"/>
            <a:ext cx="2834640" cy="502920"/>
          </a:xfrm>
          <a:prstGeom prst="rect">
            <a:avLst/>
          </a:prstGeom>
          <a:noFill/>
          <a:ln/>
        </p:spPr>
        <p:txBody>
          <a:bodyPr wrap="square" lIns="0" tIns="0" rIns="0" bIns="0" rtlCol="0" anchor="t"/>
          <a:lstStyle/>
          <a:p>
            <a:pPr indent="0" marL="0">
              <a:lnSpc>
                <a:spcPct val="105000"/>
              </a:lnSpc>
              <a:buNone/>
            </a:pPr>
            <a:r>
              <a:rPr lang="en-US" sz="1250" dirty="0">
                <a:solidFill>
                  <a:srgbClr val="262220"/>
                </a:solidFill>
                <a:latin typeface="Calibri" pitchFamily="34" charset="0"/>
                <a:ea typeface="Calibri" pitchFamily="34" charset="-122"/>
                <a:cs typeface="Calibri" pitchFamily="34" charset="-120"/>
              </a:rPr>
              <a:t>Minimize congestion</a:t>
            </a:r>
            <a:endParaRPr lang="en-US" sz="1250" dirty="0"/>
          </a:p>
        </p:txBody>
      </p:sp>
      <p:sp>
        <p:nvSpPr>
          <p:cNvPr id="17" name="Shape 14"/>
          <p:cNvSpPr/>
          <p:nvPr/>
        </p:nvSpPr>
        <p:spPr>
          <a:xfrm>
            <a:off x="4407408" y="1508760"/>
            <a:ext cx="3611880" cy="4251960"/>
          </a:xfrm>
          <a:prstGeom prst="roundRect">
            <a:avLst>
              <a:gd name="adj" fmla="val 2278"/>
            </a:avLst>
          </a:prstGeom>
          <a:solidFill>
            <a:srgbClr val="FFFFFF"/>
          </a:solidFill>
          <a:ln/>
          <a:effectLst>
            <a:outerShdw sx="100000" sy="100000" kx="0" ky="0" algn="bl" rotWithShape="0" blurRad="101600" dist="38100" dir="5400000">
              <a:srgbClr val="1A1A1A">
                <a:alpha val="12000"/>
              </a:srgbClr>
            </a:outerShdw>
          </a:effectLst>
        </p:spPr>
      </p:sp>
      <p:sp>
        <p:nvSpPr>
          <p:cNvPr id="18" name="Shape 15"/>
          <p:cNvSpPr/>
          <p:nvPr/>
        </p:nvSpPr>
        <p:spPr>
          <a:xfrm>
            <a:off x="4407408" y="1508760"/>
            <a:ext cx="3611880" cy="914400"/>
          </a:xfrm>
          <a:prstGeom prst="roundRect">
            <a:avLst>
              <a:gd name="adj" fmla="val 9000"/>
            </a:avLst>
          </a:prstGeom>
          <a:solidFill>
            <a:srgbClr val="2F3C7E"/>
          </a:solidFill>
          <a:ln/>
        </p:spPr>
      </p:sp>
      <p:sp>
        <p:nvSpPr>
          <p:cNvPr id="19" name="Shape 16"/>
          <p:cNvSpPr/>
          <p:nvPr/>
        </p:nvSpPr>
        <p:spPr>
          <a:xfrm>
            <a:off x="4407408" y="1965960"/>
            <a:ext cx="3611880" cy="457200"/>
          </a:xfrm>
          <a:prstGeom prst="rect">
            <a:avLst/>
          </a:prstGeom>
          <a:solidFill>
            <a:srgbClr val="2F3C7E"/>
          </a:solidFill>
          <a:ln/>
        </p:spPr>
      </p:sp>
      <p:sp>
        <p:nvSpPr>
          <p:cNvPr id="20" name="Shape 17"/>
          <p:cNvSpPr/>
          <p:nvPr/>
        </p:nvSpPr>
        <p:spPr>
          <a:xfrm>
            <a:off x="4626864" y="1682496"/>
            <a:ext cx="566928" cy="566928"/>
          </a:xfrm>
          <a:prstGeom prst="ellipse">
            <a:avLst/>
          </a:prstGeom>
          <a:solidFill>
            <a:srgbClr val="000000">
              <a:alpha val="28000"/>
            </a:srgbClr>
          </a:solidFill>
          <a:ln w="15875">
            <a:solidFill>
              <a:srgbClr val="FFFFFF"/>
            </a:solidFill>
            <a:prstDash val="solid"/>
          </a:ln>
        </p:spPr>
      </p:sp>
      <p:pic>
        <p:nvPicPr>
          <p:cNvPr id="21" name="Image 1" descr="images/icon_fire.png">    </p:cNvPr>
          <p:cNvPicPr>
            <a:picLocks noChangeAspect="1"/>
          </p:cNvPicPr>
          <p:nvPr/>
        </p:nvPicPr>
        <p:blipFill>
          <a:blip r:embed="rId2"/>
          <a:stretch>
            <a:fillRect/>
          </a:stretch>
        </p:blipFill>
        <p:spPr>
          <a:xfrm>
            <a:off x="4773168" y="1828800"/>
            <a:ext cx="274320" cy="274320"/>
          </a:xfrm>
          <a:prstGeom prst="rect">
            <a:avLst/>
          </a:prstGeom>
        </p:spPr>
      </p:pic>
      <p:sp>
        <p:nvSpPr>
          <p:cNvPr id="22" name="Text 18"/>
          <p:cNvSpPr/>
          <p:nvPr/>
        </p:nvSpPr>
        <p:spPr>
          <a:xfrm>
            <a:off x="5367528" y="1673352"/>
            <a:ext cx="2423160" cy="310896"/>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Environment</a:t>
            </a:r>
            <a:endParaRPr lang="en-US" sz="1600" dirty="0"/>
          </a:p>
        </p:txBody>
      </p:sp>
      <p:sp>
        <p:nvSpPr>
          <p:cNvPr id="23" name="Text 19"/>
          <p:cNvSpPr/>
          <p:nvPr/>
        </p:nvSpPr>
        <p:spPr>
          <a:xfrm>
            <a:off x="5367528" y="2002536"/>
            <a:ext cx="2423160" cy="256032"/>
          </a:xfrm>
          <a:prstGeom prst="rect">
            <a:avLst/>
          </a:prstGeom>
          <a:noFill/>
          <a:ln/>
        </p:spPr>
        <p:txBody>
          <a:bodyPr wrap="square" lIns="0" tIns="0" rIns="0" bIns="0" rtlCol="0" anchor="ctr"/>
          <a:lstStyle/>
          <a:p>
            <a:pPr indent="0" marL="0">
              <a:buNone/>
            </a:pPr>
            <a:r>
              <a:rPr lang="en-US" sz="1050" i="1" dirty="0">
                <a:solidFill>
                  <a:srgbClr val="FFFFFF"/>
                </a:solidFill>
                <a:latin typeface="Calibri" pitchFamily="34" charset="0"/>
                <a:ea typeface="Calibri" pitchFamily="34" charset="-122"/>
                <a:cs typeface="Calibri" pitchFamily="34" charset="-120"/>
              </a:rPr>
              <a:t>Component (E)</a:t>
            </a:r>
            <a:endParaRPr lang="en-US" sz="1050" dirty="0"/>
          </a:p>
        </p:txBody>
      </p:sp>
      <p:sp>
        <p:nvSpPr>
          <p:cNvPr id="24" name="Shape 20"/>
          <p:cNvSpPr/>
          <p:nvPr/>
        </p:nvSpPr>
        <p:spPr>
          <a:xfrm>
            <a:off x="4700016" y="2729484"/>
            <a:ext cx="91440" cy="91440"/>
          </a:xfrm>
          <a:prstGeom prst="ellipse">
            <a:avLst/>
          </a:prstGeom>
          <a:solidFill>
            <a:srgbClr val="2F3C7E"/>
          </a:solidFill>
          <a:ln/>
        </p:spPr>
      </p:sp>
      <p:sp>
        <p:nvSpPr>
          <p:cNvPr id="25" name="Text 21"/>
          <p:cNvSpPr/>
          <p:nvPr/>
        </p:nvSpPr>
        <p:spPr>
          <a:xfrm>
            <a:off x="4910328" y="2596896"/>
            <a:ext cx="2834640" cy="502920"/>
          </a:xfrm>
          <a:prstGeom prst="rect">
            <a:avLst/>
          </a:prstGeom>
          <a:noFill/>
          <a:ln/>
        </p:spPr>
        <p:txBody>
          <a:bodyPr wrap="square" lIns="0" tIns="0" rIns="0" bIns="0" rtlCol="0" anchor="t"/>
          <a:lstStyle/>
          <a:p>
            <a:pPr indent="0" marL="0">
              <a:lnSpc>
                <a:spcPct val="105000"/>
              </a:lnSpc>
              <a:buNone/>
            </a:pPr>
            <a:r>
              <a:rPr lang="en-US" sz="1250" dirty="0">
                <a:solidFill>
                  <a:srgbClr val="262220"/>
                </a:solidFill>
                <a:latin typeface="Calibri" pitchFamily="34" charset="0"/>
                <a:ea typeface="Calibri" pitchFamily="34" charset="-122"/>
                <a:cs typeface="Calibri" pitchFamily="34" charset="-120"/>
              </a:rPr>
              <a:t>Building layout — rooms, exits, obstacles</a:t>
            </a:r>
            <a:endParaRPr lang="en-US" sz="1250" dirty="0"/>
          </a:p>
        </p:txBody>
      </p:sp>
      <p:sp>
        <p:nvSpPr>
          <p:cNvPr id="26" name="Shape 22"/>
          <p:cNvSpPr/>
          <p:nvPr/>
        </p:nvSpPr>
        <p:spPr>
          <a:xfrm>
            <a:off x="4700016" y="3442716"/>
            <a:ext cx="91440" cy="91440"/>
          </a:xfrm>
          <a:prstGeom prst="ellipse">
            <a:avLst/>
          </a:prstGeom>
          <a:solidFill>
            <a:srgbClr val="2F3C7E"/>
          </a:solidFill>
          <a:ln/>
        </p:spPr>
      </p:sp>
      <p:sp>
        <p:nvSpPr>
          <p:cNvPr id="27" name="Text 23"/>
          <p:cNvSpPr/>
          <p:nvPr/>
        </p:nvSpPr>
        <p:spPr>
          <a:xfrm>
            <a:off x="4910328" y="3310128"/>
            <a:ext cx="2834640" cy="502920"/>
          </a:xfrm>
          <a:prstGeom prst="rect">
            <a:avLst/>
          </a:prstGeom>
          <a:noFill/>
          <a:ln/>
        </p:spPr>
        <p:txBody>
          <a:bodyPr wrap="square" lIns="0" tIns="0" rIns="0" bIns="0" rtlCol="0" anchor="t"/>
          <a:lstStyle/>
          <a:p>
            <a:pPr indent="0" marL="0">
              <a:lnSpc>
                <a:spcPct val="105000"/>
              </a:lnSpc>
              <a:buNone/>
            </a:pPr>
            <a:r>
              <a:rPr lang="en-US" sz="1250" dirty="0">
                <a:solidFill>
                  <a:srgbClr val="262220"/>
                </a:solidFill>
                <a:latin typeface="Calibri" pitchFamily="34" charset="0"/>
                <a:ea typeface="Calibri" pitchFamily="34" charset="-122"/>
                <a:cs typeface="Calibri" pitchFamily="34" charset="-120"/>
              </a:rPr>
              <a:t>Dynamic hazards: fire and smoke</a:t>
            </a:r>
            <a:endParaRPr lang="en-US" sz="1250" dirty="0"/>
          </a:p>
        </p:txBody>
      </p:sp>
      <p:sp>
        <p:nvSpPr>
          <p:cNvPr id="28" name="Shape 24"/>
          <p:cNvSpPr/>
          <p:nvPr/>
        </p:nvSpPr>
        <p:spPr>
          <a:xfrm>
            <a:off x="8266176" y="1508760"/>
            <a:ext cx="3611880" cy="4251960"/>
          </a:xfrm>
          <a:prstGeom prst="roundRect">
            <a:avLst>
              <a:gd name="adj" fmla="val 2278"/>
            </a:avLst>
          </a:prstGeom>
          <a:solidFill>
            <a:srgbClr val="FFFFFF"/>
          </a:solidFill>
          <a:ln/>
          <a:effectLst>
            <a:outerShdw sx="100000" sy="100000" kx="0" ky="0" algn="bl" rotWithShape="0" blurRad="101600" dist="38100" dir="5400000">
              <a:srgbClr val="1A1A1A">
                <a:alpha val="12000"/>
              </a:srgbClr>
            </a:outerShdw>
          </a:effectLst>
        </p:spPr>
      </p:sp>
      <p:sp>
        <p:nvSpPr>
          <p:cNvPr id="29" name="Shape 25"/>
          <p:cNvSpPr/>
          <p:nvPr/>
        </p:nvSpPr>
        <p:spPr>
          <a:xfrm>
            <a:off x="8266176" y="1508760"/>
            <a:ext cx="3611880" cy="914400"/>
          </a:xfrm>
          <a:prstGeom prst="roundRect">
            <a:avLst>
              <a:gd name="adj" fmla="val 9000"/>
            </a:avLst>
          </a:prstGeom>
          <a:solidFill>
            <a:srgbClr val="1E7B4D"/>
          </a:solidFill>
          <a:ln/>
        </p:spPr>
      </p:sp>
      <p:sp>
        <p:nvSpPr>
          <p:cNvPr id="30" name="Shape 26"/>
          <p:cNvSpPr/>
          <p:nvPr/>
        </p:nvSpPr>
        <p:spPr>
          <a:xfrm>
            <a:off x="8266176" y="1965960"/>
            <a:ext cx="3611880" cy="457200"/>
          </a:xfrm>
          <a:prstGeom prst="rect">
            <a:avLst/>
          </a:prstGeom>
          <a:solidFill>
            <a:srgbClr val="1E7B4D"/>
          </a:solidFill>
          <a:ln/>
        </p:spPr>
      </p:sp>
      <p:sp>
        <p:nvSpPr>
          <p:cNvPr id="31" name="Shape 27"/>
          <p:cNvSpPr/>
          <p:nvPr/>
        </p:nvSpPr>
        <p:spPr>
          <a:xfrm>
            <a:off x="8485632" y="1682496"/>
            <a:ext cx="566928" cy="566928"/>
          </a:xfrm>
          <a:prstGeom prst="ellipse">
            <a:avLst/>
          </a:prstGeom>
          <a:solidFill>
            <a:srgbClr val="000000">
              <a:alpha val="28000"/>
            </a:srgbClr>
          </a:solidFill>
          <a:ln w="15875">
            <a:solidFill>
              <a:srgbClr val="FFFFFF"/>
            </a:solidFill>
            <a:prstDash val="solid"/>
          </a:ln>
        </p:spPr>
      </p:sp>
      <p:pic>
        <p:nvPicPr>
          <p:cNvPr id="32" name="Image 2" descr="images/icon_route.png">    </p:cNvPr>
          <p:cNvPicPr>
            <a:picLocks noChangeAspect="1"/>
          </p:cNvPicPr>
          <p:nvPr/>
        </p:nvPicPr>
        <p:blipFill>
          <a:blip r:embed="rId3"/>
          <a:stretch>
            <a:fillRect/>
          </a:stretch>
        </p:blipFill>
        <p:spPr>
          <a:xfrm>
            <a:off x="8631936" y="1828800"/>
            <a:ext cx="274320" cy="274320"/>
          </a:xfrm>
          <a:prstGeom prst="rect">
            <a:avLst/>
          </a:prstGeom>
        </p:spPr>
      </p:pic>
      <p:sp>
        <p:nvSpPr>
          <p:cNvPr id="33" name="Text 28"/>
          <p:cNvSpPr/>
          <p:nvPr/>
        </p:nvSpPr>
        <p:spPr>
          <a:xfrm>
            <a:off x="9226296" y="1673352"/>
            <a:ext cx="2423160" cy="310896"/>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Actuators</a:t>
            </a:r>
            <a:endParaRPr lang="en-US" sz="1600" dirty="0"/>
          </a:p>
        </p:txBody>
      </p:sp>
      <p:sp>
        <p:nvSpPr>
          <p:cNvPr id="34" name="Text 29"/>
          <p:cNvSpPr/>
          <p:nvPr/>
        </p:nvSpPr>
        <p:spPr>
          <a:xfrm>
            <a:off x="9226296" y="2002536"/>
            <a:ext cx="2423160" cy="256032"/>
          </a:xfrm>
          <a:prstGeom prst="rect">
            <a:avLst/>
          </a:prstGeom>
          <a:noFill/>
          <a:ln/>
        </p:spPr>
        <p:txBody>
          <a:bodyPr wrap="square" lIns="0" tIns="0" rIns="0" bIns="0" rtlCol="0" anchor="ctr"/>
          <a:lstStyle/>
          <a:p>
            <a:pPr indent="0" marL="0">
              <a:buNone/>
            </a:pPr>
            <a:r>
              <a:rPr lang="en-US" sz="1050" i="1" dirty="0">
                <a:solidFill>
                  <a:srgbClr val="FFFFFF"/>
                </a:solidFill>
                <a:latin typeface="Calibri" pitchFamily="34" charset="0"/>
                <a:ea typeface="Calibri" pitchFamily="34" charset="-122"/>
                <a:cs typeface="Calibri" pitchFamily="34" charset="-120"/>
              </a:rPr>
              <a:t>Component (A)</a:t>
            </a:r>
            <a:endParaRPr lang="en-US" sz="1050" dirty="0"/>
          </a:p>
        </p:txBody>
      </p:sp>
      <p:sp>
        <p:nvSpPr>
          <p:cNvPr id="35" name="Shape 30"/>
          <p:cNvSpPr/>
          <p:nvPr/>
        </p:nvSpPr>
        <p:spPr>
          <a:xfrm>
            <a:off x="8558784" y="2729484"/>
            <a:ext cx="91440" cy="91440"/>
          </a:xfrm>
          <a:prstGeom prst="ellipse">
            <a:avLst/>
          </a:prstGeom>
          <a:solidFill>
            <a:srgbClr val="1E7B4D"/>
          </a:solidFill>
          <a:ln/>
        </p:spPr>
      </p:sp>
      <p:sp>
        <p:nvSpPr>
          <p:cNvPr id="36" name="Text 31"/>
          <p:cNvSpPr/>
          <p:nvPr/>
        </p:nvSpPr>
        <p:spPr>
          <a:xfrm>
            <a:off x="8769096" y="2596896"/>
            <a:ext cx="2834640" cy="502920"/>
          </a:xfrm>
          <a:prstGeom prst="rect">
            <a:avLst/>
          </a:prstGeom>
          <a:noFill/>
          <a:ln/>
        </p:spPr>
        <p:txBody>
          <a:bodyPr wrap="square" lIns="0" tIns="0" rIns="0" bIns="0" rtlCol="0" anchor="t"/>
          <a:lstStyle/>
          <a:p>
            <a:pPr indent="0" marL="0">
              <a:lnSpc>
                <a:spcPct val="105000"/>
              </a:lnSpc>
              <a:buNone/>
            </a:pPr>
            <a:r>
              <a:rPr lang="en-US" sz="1250" dirty="0">
                <a:solidFill>
                  <a:srgbClr val="262220"/>
                </a:solidFill>
                <a:latin typeface="Calibri" pitchFamily="34" charset="0"/>
                <a:ea typeface="Calibri" pitchFamily="34" charset="-122"/>
                <a:cs typeface="Calibri" pitchFamily="34" charset="-120"/>
              </a:rPr>
              <a:t>Display escape route on screen / map</a:t>
            </a:r>
            <a:endParaRPr lang="en-US" sz="1250" dirty="0"/>
          </a:p>
        </p:txBody>
      </p:sp>
      <p:sp>
        <p:nvSpPr>
          <p:cNvPr id="37" name="Shape 32"/>
          <p:cNvSpPr/>
          <p:nvPr/>
        </p:nvSpPr>
        <p:spPr>
          <a:xfrm>
            <a:off x="8558784" y="3442716"/>
            <a:ext cx="91440" cy="91440"/>
          </a:xfrm>
          <a:prstGeom prst="ellipse">
            <a:avLst/>
          </a:prstGeom>
          <a:solidFill>
            <a:srgbClr val="1E7B4D"/>
          </a:solidFill>
          <a:ln/>
        </p:spPr>
      </p:sp>
      <p:sp>
        <p:nvSpPr>
          <p:cNvPr id="38" name="Text 33"/>
          <p:cNvSpPr/>
          <p:nvPr/>
        </p:nvSpPr>
        <p:spPr>
          <a:xfrm>
            <a:off x="8769096" y="3310128"/>
            <a:ext cx="2834640" cy="502920"/>
          </a:xfrm>
          <a:prstGeom prst="rect">
            <a:avLst/>
          </a:prstGeom>
          <a:noFill/>
          <a:ln/>
        </p:spPr>
        <p:txBody>
          <a:bodyPr wrap="square" lIns="0" tIns="0" rIns="0" bIns="0" rtlCol="0" anchor="t"/>
          <a:lstStyle/>
          <a:p>
            <a:pPr indent="0" marL="0">
              <a:lnSpc>
                <a:spcPct val="105000"/>
              </a:lnSpc>
              <a:buNone/>
            </a:pPr>
            <a:r>
              <a:rPr lang="en-US" sz="1250" dirty="0">
                <a:solidFill>
                  <a:srgbClr val="262220"/>
                </a:solidFill>
                <a:latin typeface="Calibri" pitchFamily="34" charset="0"/>
                <a:ea typeface="Calibri" pitchFamily="34" charset="-122"/>
                <a:cs typeface="Calibri" pitchFamily="34" charset="-120"/>
              </a:rPr>
              <a:t>Alerts and directions to occupants</a:t>
            </a:r>
            <a:endParaRPr lang="en-US" sz="1250" dirty="0"/>
          </a:p>
        </p:txBody>
      </p:sp>
      <p:sp>
        <p:nvSpPr>
          <p:cNvPr id="39" name="Text 34"/>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50" dirty="0">
                <a:solidFill>
                  <a:srgbClr val="6B6360"/>
                </a:solidFill>
                <a:latin typeface="Calibri" pitchFamily="34" charset="0"/>
                <a:ea typeface="Calibri" pitchFamily="34" charset="-122"/>
                <a:cs typeface="Calibri" pitchFamily="34" charset="-120"/>
              </a:rPr>
              <a:t>Emergency Evacuation Path Planner</a:t>
            </a:r>
            <a:endParaRPr lang="en-US" sz="950" dirty="0"/>
          </a:p>
        </p:txBody>
      </p:sp>
      <p:sp>
        <p:nvSpPr>
          <p:cNvPr id="40" name="Text 35"/>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50" dirty="0">
                <a:solidFill>
                  <a:srgbClr val="6B6360"/>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6F5"/>
        </a:solidFill>
      </p:bgPr>
    </p:bg>
    <p:spTree>
      <p:nvGrpSpPr>
        <p:cNvPr id="1" name=""/>
        <p:cNvGrpSpPr/>
        <p:nvPr/>
      </p:nvGrpSpPr>
      <p:grpSpPr>
        <a:xfrm>
          <a:off x="0" y="0"/>
          <a:ext cx="0" cy="0"/>
          <a:chOff x="0" y="0"/>
          <a:chExt cx="0" cy="0"/>
        </a:xfrm>
      </p:grpSpPr>
      <p:sp>
        <p:nvSpPr>
          <p:cNvPr id="2" name="Text 0"/>
          <p:cNvSpPr/>
          <p:nvPr/>
        </p:nvSpPr>
        <p:spPr>
          <a:xfrm>
            <a:off x="548640" y="384048"/>
            <a:ext cx="8229600" cy="292608"/>
          </a:xfrm>
          <a:prstGeom prst="rect">
            <a:avLst/>
          </a:prstGeom>
          <a:noFill/>
          <a:ln/>
        </p:spPr>
        <p:txBody>
          <a:bodyPr wrap="square" lIns="0" tIns="0" rIns="0" bIns="0" rtlCol="0" anchor="ctr"/>
          <a:lstStyle/>
          <a:p>
            <a:pPr indent="0" marL="0">
              <a:buNone/>
            </a:pPr>
            <a:r>
              <a:rPr lang="en-US" sz="1300" b="1" spc="200" kern="0" dirty="0">
                <a:solidFill>
                  <a:srgbClr val="990011"/>
                </a:solidFill>
                <a:latin typeface="Calibri" pitchFamily="34" charset="0"/>
                <a:ea typeface="Calibri" pitchFamily="34" charset="-122"/>
                <a:cs typeface="Calibri" pitchFamily="34" charset="-120"/>
              </a:rPr>
              <a:t>MODULE 1 &amp; 2</a:t>
            </a:r>
            <a:endParaRPr lang="en-US" sz="1300" dirty="0"/>
          </a:p>
        </p:txBody>
      </p:sp>
      <p:sp>
        <p:nvSpPr>
          <p:cNvPr id="3" name="Text 1"/>
          <p:cNvSpPr/>
          <p:nvPr/>
        </p:nvSpPr>
        <p:spPr>
          <a:xfrm>
            <a:off x="530352" y="658368"/>
            <a:ext cx="10607040" cy="566928"/>
          </a:xfrm>
          <a:prstGeom prst="rect">
            <a:avLst/>
          </a:prstGeom>
          <a:noFill/>
          <a:ln/>
        </p:spPr>
        <p:txBody>
          <a:bodyPr wrap="square" lIns="0" tIns="0" rIns="0" bIns="0" rtlCol="0" anchor="ctr"/>
          <a:lstStyle/>
          <a:p>
            <a:pPr indent="0" marL="0">
              <a:buNone/>
            </a:pPr>
            <a:r>
              <a:rPr lang="en-US" sz="3000" b="1" dirty="0">
                <a:solidFill>
                  <a:srgbClr val="2F3C7E"/>
                </a:solidFill>
                <a:latin typeface="Cambria" pitchFamily="34" charset="0"/>
                <a:ea typeface="Cambria" pitchFamily="34" charset="-122"/>
                <a:cs typeface="Cambria" pitchFamily="34" charset="-120"/>
              </a:rPr>
              <a:t>Graph Modeling &amp; Search Algorithms</a:t>
            </a:r>
            <a:endParaRPr lang="en-US" sz="3000" dirty="0"/>
          </a:p>
        </p:txBody>
      </p:sp>
      <p:sp>
        <p:nvSpPr>
          <p:cNvPr id="4" name="Shape 2"/>
          <p:cNvSpPr/>
          <p:nvPr/>
        </p:nvSpPr>
        <p:spPr>
          <a:xfrm>
            <a:off x="548640" y="1463040"/>
            <a:ext cx="4160520" cy="4434840"/>
          </a:xfrm>
          <a:prstGeom prst="roundRect">
            <a:avLst>
              <a:gd name="adj" fmla="val 1978"/>
            </a:avLst>
          </a:prstGeom>
          <a:solidFill>
            <a:srgbClr val="FFFFFF"/>
          </a:solidFill>
          <a:ln/>
          <a:effectLst>
            <a:outerShdw sx="100000" sy="100000" kx="0" ky="0" algn="bl" rotWithShape="0" blurRad="101600" dist="38100" dir="5400000">
              <a:srgbClr val="1A1A1A">
                <a:alpha val="12000"/>
              </a:srgbClr>
            </a:outerShdw>
          </a:effectLst>
        </p:spPr>
      </p:sp>
      <p:sp>
        <p:nvSpPr>
          <p:cNvPr id="5" name="Shape 3"/>
          <p:cNvSpPr/>
          <p:nvPr/>
        </p:nvSpPr>
        <p:spPr>
          <a:xfrm>
            <a:off x="868680" y="1783080"/>
            <a:ext cx="548640" cy="548640"/>
          </a:xfrm>
          <a:prstGeom prst="ellipse">
            <a:avLst/>
          </a:prstGeom>
          <a:solidFill>
            <a:srgbClr val="2F3C7E"/>
          </a:solidFill>
          <a:ln/>
        </p:spPr>
      </p:sp>
      <p:pic>
        <p:nvPicPr>
          <p:cNvPr id="6" name="Image 0" descr="images/icon_graph.png">    </p:cNvPr>
          <p:cNvPicPr>
            <a:picLocks noChangeAspect="1"/>
          </p:cNvPicPr>
          <p:nvPr/>
        </p:nvPicPr>
        <p:blipFill>
          <a:blip r:embed="rId1"/>
          <a:stretch>
            <a:fillRect/>
          </a:stretch>
        </p:blipFill>
        <p:spPr>
          <a:xfrm>
            <a:off x="1011326" y="1925726"/>
            <a:ext cx="263347" cy="263347"/>
          </a:xfrm>
          <a:prstGeom prst="rect">
            <a:avLst/>
          </a:prstGeom>
        </p:spPr>
      </p:pic>
      <p:sp>
        <p:nvSpPr>
          <p:cNvPr id="7" name="Text 4"/>
          <p:cNvSpPr/>
          <p:nvPr/>
        </p:nvSpPr>
        <p:spPr>
          <a:xfrm>
            <a:off x="1554480" y="1783080"/>
            <a:ext cx="3017520" cy="548640"/>
          </a:xfrm>
          <a:prstGeom prst="rect">
            <a:avLst/>
          </a:prstGeom>
          <a:noFill/>
          <a:ln/>
        </p:spPr>
        <p:txBody>
          <a:bodyPr wrap="square" lIns="0" tIns="0" rIns="0" bIns="0" rtlCol="0" anchor="ctr"/>
          <a:lstStyle/>
          <a:p>
            <a:pPr indent="0" marL="0">
              <a:buNone/>
            </a:pPr>
            <a:r>
              <a:rPr lang="en-US" sz="1450" b="1" dirty="0">
                <a:solidFill>
                  <a:srgbClr val="2F3C7E"/>
                </a:solidFill>
                <a:latin typeface="Cambria" pitchFamily="34" charset="0"/>
                <a:ea typeface="Cambria" pitchFamily="34" charset="-122"/>
                <a:cs typeface="Cambria" pitchFamily="34" charset="-120"/>
              </a:rPr>
              <a:t>Module 1: PEAS &amp; Data Structures</a:t>
            </a:r>
            <a:endParaRPr lang="en-US" sz="1450" dirty="0"/>
          </a:p>
        </p:txBody>
      </p:sp>
      <p:sp>
        <p:nvSpPr>
          <p:cNvPr id="8" name="Shape 5"/>
          <p:cNvSpPr/>
          <p:nvPr/>
        </p:nvSpPr>
        <p:spPr>
          <a:xfrm>
            <a:off x="896112" y="2542032"/>
            <a:ext cx="100584" cy="100584"/>
          </a:xfrm>
          <a:prstGeom prst="ellipse">
            <a:avLst/>
          </a:prstGeom>
          <a:solidFill>
            <a:srgbClr val="2F3C7E"/>
          </a:solidFill>
          <a:ln/>
        </p:spPr>
      </p:sp>
      <p:sp>
        <p:nvSpPr>
          <p:cNvPr id="9" name="Text 6"/>
          <p:cNvSpPr/>
          <p:nvPr/>
        </p:nvSpPr>
        <p:spPr>
          <a:xfrm>
            <a:off x="1115568" y="2414016"/>
            <a:ext cx="3429000" cy="365760"/>
          </a:xfrm>
          <a:prstGeom prst="rect">
            <a:avLst/>
          </a:prstGeom>
          <a:noFill/>
          <a:ln/>
        </p:spPr>
        <p:txBody>
          <a:bodyPr wrap="square" lIns="0" tIns="0" rIns="0" bIns="0" rtlCol="0" anchor="t"/>
          <a:lstStyle/>
          <a:p>
            <a:pPr indent="0" marL="0">
              <a:buNone/>
            </a:pPr>
            <a:r>
              <a:rPr lang="en-US" sz="1300" dirty="0">
                <a:solidFill>
                  <a:srgbClr val="262220"/>
                </a:solidFill>
                <a:latin typeface="Calibri" pitchFamily="34" charset="0"/>
                <a:ea typeface="Calibri" pitchFamily="34" charset="-122"/>
                <a:cs typeface="Calibri" pitchFamily="34" charset="-120"/>
              </a:rPr>
              <a:t>Building modeled as a graph</a:t>
            </a:r>
            <a:endParaRPr lang="en-US" sz="1300" dirty="0"/>
          </a:p>
        </p:txBody>
      </p:sp>
      <p:sp>
        <p:nvSpPr>
          <p:cNvPr id="10" name="Shape 7"/>
          <p:cNvSpPr/>
          <p:nvPr/>
        </p:nvSpPr>
        <p:spPr>
          <a:xfrm>
            <a:off x="896112" y="3072384"/>
            <a:ext cx="100584" cy="100584"/>
          </a:xfrm>
          <a:prstGeom prst="ellipse">
            <a:avLst/>
          </a:prstGeom>
          <a:solidFill>
            <a:srgbClr val="2F3C7E"/>
          </a:solidFill>
          <a:ln/>
        </p:spPr>
      </p:sp>
      <p:sp>
        <p:nvSpPr>
          <p:cNvPr id="11" name="Text 8"/>
          <p:cNvSpPr/>
          <p:nvPr/>
        </p:nvSpPr>
        <p:spPr>
          <a:xfrm>
            <a:off x="1115568" y="2944368"/>
            <a:ext cx="3429000" cy="365760"/>
          </a:xfrm>
          <a:prstGeom prst="rect">
            <a:avLst/>
          </a:prstGeom>
          <a:noFill/>
          <a:ln/>
        </p:spPr>
        <p:txBody>
          <a:bodyPr wrap="square" lIns="0" tIns="0" rIns="0" bIns="0" rtlCol="0" anchor="t"/>
          <a:lstStyle/>
          <a:p>
            <a:pPr indent="0" marL="0">
              <a:buNone/>
            </a:pPr>
            <a:r>
              <a:rPr lang="en-US" sz="1300" dirty="0">
                <a:solidFill>
                  <a:srgbClr val="262220"/>
                </a:solidFill>
                <a:latin typeface="Calibri" pitchFamily="34" charset="0"/>
                <a:ea typeface="Calibri" pitchFamily="34" charset="-122"/>
                <a:cs typeface="Calibri" pitchFamily="34" charset="-120"/>
              </a:rPr>
              <a:t>Nodes → rooms, corridors, exits</a:t>
            </a:r>
            <a:endParaRPr lang="en-US" sz="1300" dirty="0"/>
          </a:p>
        </p:txBody>
      </p:sp>
      <p:sp>
        <p:nvSpPr>
          <p:cNvPr id="12" name="Shape 9"/>
          <p:cNvSpPr/>
          <p:nvPr/>
        </p:nvSpPr>
        <p:spPr>
          <a:xfrm>
            <a:off x="896112" y="3602736"/>
            <a:ext cx="100584" cy="100584"/>
          </a:xfrm>
          <a:prstGeom prst="ellipse">
            <a:avLst/>
          </a:prstGeom>
          <a:solidFill>
            <a:srgbClr val="2F3C7E"/>
          </a:solidFill>
          <a:ln/>
        </p:spPr>
      </p:sp>
      <p:sp>
        <p:nvSpPr>
          <p:cNvPr id="13" name="Text 10"/>
          <p:cNvSpPr/>
          <p:nvPr/>
        </p:nvSpPr>
        <p:spPr>
          <a:xfrm>
            <a:off x="1115568" y="3474720"/>
            <a:ext cx="3429000" cy="365760"/>
          </a:xfrm>
          <a:prstGeom prst="rect">
            <a:avLst/>
          </a:prstGeom>
          <a:noFill/>
          <a:ln/>
        </p:spPr>
        <p:txBody>
          <a:bodyPr wrap="square" lIns="0" tIns="0" rIns="0" bIns="0" rtlCol="0" anchor="t"/>
          <a:lstStyle/>
          <a:p>
            <a:pPr indent="0" marL="0">
              <a:buNone/>
            </a:pPr>
            <a:r>
              <a:rPr lang="en-US" sz="1300" dirty="0">
                <a:solidFill>
                  <a:srgbClr val="262220"/>
                </a:solidFill>
                <a:latin typeface="Calibri" pitchFamily="34" charset="0"/>
                <a:ea typeface="Calibri" pitchFamily="34" charset="-122"/>
                <a:cs typeface="Calibri" pitchFamily="34" charset="-120"/>
              </a:rPr>
              <a:t>Edges → connecting pathways</a:t>
            </a:r>
            <a:endParaRPr lang="en-US" sz="1300" dirty="0"/>
          </a:p>
        </p:txBody>
      </p:sp>
      <p:sp>
        <p:nvSpPr>
          <p:cNvPr id="14" name="Shape 11"/>
          <p:cNvSpPr/>
          <p:nvPr/>
        </p:nvSpPr>
        <p:spPr>
          <a:xfrm>
            <a:off x="896112" y="4133088"/>
            <a:ext cx="100584" cy="100584"/>
          </a:xfrm>
          <a:prstGeom prst="ellipse">
            <a:avLst/>
          </a:prstGeom>
          <a:solidFill>
            <a:srgbClr val="2F3C7E"/>
          </a:solidFill>
          <a:ln/>
        </p:spPr>
      </p:sp>
      <p:sp>
        <p:nvSpPr>
          <p:cNvPr id="15" name="Text 12"/>
          <p:cNvSpPr/>
          <p:nvPr/>
        </p:nvSpPr>
        <p:spPr>
          <a:xfrm>
            <a:off x="1115568" y="4005072"/>
            <a:ext cx="3429000" cy="365760"/>
          </a:xfrm>
          <a:prstGeom prst="rect">
            <a:avLst/>
          </a:prstGeom>
          <a:noFill/>
          <a:ln/>
        </p:spPr>
        <p:txBody>
          <a:bodyPr wrap="square" lIns="0" tIns="0" rIns="0" bIns="0" rtlCol="0" anchor="t"/>
          <a:lstStyle/>
          <a:p>
            <a:pPr indent="0" marL="0">
              <a:buNone/>
            </a:pPr>
            <a:r>
              <a:rPr lang="en-US" sz="1300" dirty="0">
                <a:solidFill>
                  <a:srgbClr val="262220"/>
                </a:solidFill>
                <a:latin typeface="Calibri" pitchFamily="34" charset="0"/>
                <a:ea typeface="Calibri" pitchFamily="34" charset="-122"/>
                <a:cs typeface="Calibri" pitchFamily="34" charset="-120"/>
              </a:rPr>
              <a:t>Dictionary → map adjacency list</a:t>
            </a:r>
            <a:endParaRPr lang="en-US" sz="1300" dirty="0"/>
          </a:p>
        </p:txBody>
      </p:sp>
      <p:sp>
        <p:nvSpPr>
          <p:cNvPr id="16" name="Shape 13"/>
          <p:cNvSpPr/>
          <p:nvPr/>
        </p:nvSpPr>
        <p:spPr>
          <a:xfrm>
            <a:off x="868680" y="4636008"/>
            <a:ext cx="3520440" cy="0"/>
          </a:xfrm>
          <a:prstGeom prst="line">
            <a:avLst/>
          </a:prstGeom>
          <a:noFill/>
          <a:ln w="12700">
            <a:solidFill>
              <a:srgbClr val="DCD5D3"/>
            </a:solidFill>
            <a:prstDash val="solid"/>
          </a:ln>
        </p:spPr>
      </p:sp>
      <p:sp>
        <p:nvSpPr>
          <p:cNvPr id="17" name="Text 14"/>
          <p:cNvSpPr/>
          <p:nvPr/>
        </p:nvSpPr>
        <p:spPr>
          <a:xfrm>
            <a:off x="868680" y="4754880"/>
            <a:ext cx="3520440" cy="274320"/>
          </a:xfrm>
          <a:prstGeom prst="rect">
            <a:avLst/>
          </a:prstGeom>
          <a:noFill/>
          <a:ln/>
        </p:spPr>
        <p:txBody>
          <a:bodyPr wrap="square" lIns="0" tIns="0" rIns="0" bIns="0" rtlCol="0" anchor="ctr"/>
          <a:lstStyle/>
          <a:p>
            <a:pPr indent="0" marL="0">
              <a:buNone/>
            </a:pPr>
            <a:r>
              <a:rPr lang="en-US" sz="1150" b="1" dirty="0">
                <a:solidFill>
                  <a:srgbClr val="990011"/>
                </a:solidFill>
                <a:latin typeface="Calibri" pitchFamily="34" charset="0"/>
                <a:ea typeface="Calibri" pitchFamily="34" charset="-122"/>
                <a:cs typeface="Calibri" pitchFamily="34" charset="-120"/>
              </a:rPr>
              <a:t>Example node set</a:t>
            </a:r>
            <a:endParaRPr lang="en-US" sz="1150" dirty="0"/>
          </a:p>
        </p:txBody>
      </p:sp>
      <p:sp>
        <p:nvSpPr>
          <p:cNvPr id="18" name="Text 15"/>
          <p:cNvSpPr/>
          <p:nvPr/>
        </p:nvSpPr>
        <p:spPr>
          <a:xfrm>
            <a:off x="868680" y="5047488"/>
            <a:ext cx="3520440" cy="365760"/>
          </a:xfrm>
          <a:prstGeom prst="rect">
            <a:avLst/>
          </a:prstGeom>
          <a:noFill/>
          <a:ln/>
        </p:spPr>
        <p:txBody>
          <a:bodyPr wrap="square" lIns="0" tIns="0" rIns="0" bIns="0" rtlCol="0" anchor="ctr"/>
          <a:lstStyle/>
          <a:p>
            <a:pPr indent="0" marL="0">
              <a:buNone/>
            </a:pPr>
            <a:r>
              <a:rPr lang="en-US" sz="1250" i="1" dirty="0">
                <a:solidFill>
                  <a:srgbClr val="6B6360"/>
                </a:solidFill>
                <a:latin typeface="Calibri" pitchFamily="34" charset="0"/>
                <a:ea typeface="Calibri" pitchFamily="34" charset="-122"/>
                <a:cs typeface="Calibri" pitchFamily="34" charset="-120"/>
              </a:rPr>
              <a:t>Room 101 → Corridor A → Exit Gate A</a:t>
            </a:r>
            <a:endParaRPr lang="en-US" sz="1250" dirty="0"/>
          </a:p>
        </p:txBody>
      </p:sp>
      <p:sp>
        <p:nvSpPr>
          <p:cNvPr id="19" name="Shape 16"/>
          <p:cNvSpPr/>
          <p:nvPr/>
        </p:nvSpPr>
        <p:spPr>
          <a:xfrm>
            <a:off x="4983480" y="1463040"/>
            <a:ext cx="6656832" cy="4434840"/>
          </a:xfrm>
          <a:prstGeom prst="roundRect">
            <a:avLst>
              <a:gd name="adj" fmla="val 1856"/>
            </a:avLst>
          </a:prstGeom>
          <a:solidFill>
            <a:srgbClr val="FFFFFF"/>
          </a:solidFill>
          <a:ln/>
          <a:effectLst>
            <a:outerShdw sx="100000" sy="100000" kx="0" ky="0" algn="bl" rotWithShape="0" blurRad="101600" dist="38100" dir="5400000">
              <a:srgbClr val="1A1A1A">
                <a:alpha val="12000"/>
              </a:srgbClr>
            </a:outerShdw>
          </a:effectLst>
        </p:spPr>
      </p:sp>
      <p:sp>
        <p:nvSpPr>
          <p:cNvPr id="20" name="Shape 17"/>
          <p:cNvSpPr/>
          <p:nvPr/>
        </p:nvSpPr>
        <p:spPr>
          <a:xfrm>
            <a:off x="5303520" y="1783080"/>
            <a:ext cx="548640" cy="548640"/>
          </a:xfrm>
          <a:prstGeom prst="ellipse">
            <a:avLst/>
          </a:prstGeom>
          <a:solidFill>
            <a:srgbClr val="990011"/>
          </a:solidFill>
          <a:ln/>
        </p:spPr>
      </p:sp>
      <p:pic>
        <p:nvPicPr>
          <p:cNvPr id="21" name="Image 1" descr="images/icon_search.png">    </p:cNvPr>
          <p:cNvPicPr>
            <a:picLocks noChangeAspect="1"/>
          </p:cNvPicPr>
          <p:nvPr/>
        </p:nvPicPr>
        <p:blipFill>
          <a:blip r:embed="rId2"/>
          <a:stretch>
            <a:fillRect/>
          </a:stretch>
        </p:blipFill>
        <p:spPr>
          <a:xfrm>
            <a:off x="5446166" y="1925726"/>
            <a:ext cx="263347" cy="263347"/>
          </a:xfrm>
          <a:prstGeom prst="rect">
            <a:avLst/>
          </a:prstGeom>
        </p:spPr>
      </p:pic>
      <p:sp>
        <p:nvSpPr>
          <p:cNvPr id="22" name="Text 18"/>
          <p:cNvSpPr/>
          <p:nvPr/>
        </p:nvSpPr>
        <p:spPr>
          <a:xfrm>
            <a:off x="5989320" y="1783080"/>
            <a:ext cx="5303520" cy="548640"/>
          </a:xfrm>
          <a:prstGeom prst="rect">
            <a:avLst/>
          </a:prstGeom>
          <a:noFill/>
          <a:ln/>
        </p:spPr>
        <p:txBody>
          <a:bodyPr wrap="square" lIns="0" tIns="0" rIns="0" bIns="0" rtlCol="0" anchor="ctr"/>
          <a:lstStyle/>
          <a:p>
            <a:pPr indent="0" marL="0">
              <a:buNone/>
            </a:pPr>
            <a:r>
              <a:rPr lang="en-US" sz="1450" b="1" dirty="0">
                <a:solidFill>
                  <a:srgbClr val="990011"/>
                </a:solidFill>
                <a:latin typeface="Cambria" pitchFamily="34" charset="0"/>
                <a:ea typeface="Cambria" pitchFamily="34" charset="-122"/>
                <a:cs typeface="Cambria" pitchFamily="34" charset="-120"/>
              </a:rPr>
              <a:t>Module 2: Searching Algorithms</a:t>
            </a:r>
            <a:endParaRPr lang="en-US" sz="1450" dirty="0"/>
          </a:p>
        </p:txBody>
      </p:sp>
      <p:sp>
        <p:nvSpPr>
          <p:cNvPr id="23" name="Shape 19"/>
          <p:cNvSpPr/>
          <p:nvPr/>
        </p:nvSpPr>
        <p:spPr>
          <a:xfrm>
            <a:off x="5303520" y="2606040"/>
            <a:ext cx="3063240" cy="1417320"/>
          </a:xfrm>
          <a:prstGeom prst="roundRect">
            <a:avLst>
              <a:gd name="adj" fmla="val 5161"/>
            </a:avLst>
          </a:prstGeom>
          <a:solidFill>
            <a:srgbClr val="FCF6F5"/>
          </a:solidFill>
          <a:ln w="12700">
            <a:solidFill>
              <a:srgbClr val="EADEDC"/>
            </a:solidFill>
            <a:prstDash val="solid"/>
          </a:ln>
        </p:spPr>
      </p:sp>
      <p:sp>
        <p:nvSpPr>
          <p:cNvPr id="24" name="Text 20"/>
          <p:cNvSpPr/>
          <p:nvPr/>
        </p:nvSpPr>
        <p:spPr>
          <a:xfrm>
            <a:off x="5504688" y="2734056"/>
            <a:ext cx="2660904" cy="365760"/>
          </a:xfrm>
          <a:prstGeom prst="rect">
            <a:avLst/>
          </a:prstGeom>
          <a:noFill/>
          <a:ln/>
        </p:spPr>
        <p:txBody>
          <a:bodyPr wrap="square" lIns="0" tIns="0" rIns="0" bIns="0" rtlCol="0" anchor="ctr"/>
          <a:lstStyle/>
          <a:p>
            <a:pPr indent="0" marL="0">
              <a:buNone/>
            </a:pPr>
            <a:r>
              <a:rPr lang="en-US" sz="1600" b="1" dirty="0">
                <a:solidFill>
                  <a:srgbClr val="2F3C7E"/>
                </a:solidFill>
                <a:latin typeface="Cambria" pitchFamily="34" charset="0"/>
                <a:ea typeface="Cambria" pitchFamily="34" charset="-122"/>
                <a:cs typeface="Cambria" pitchFamily="34" charset="-120"/>
              </a:rPr>
              <a:t>BFS</a:t>
            </a:r>
            <a:endParaRPr lang="en-US" sz="1600" dirty="0"/>
          </a:p>
        </p:txBody>
      </p:sp>
      <p:sp>
        <p:nvSpPr>
          <p:cNvPr id="25" name="Text 21"/>
          <p:cNvSpPr/>
          <p:nvPr/>
        </p:nvSpPr>
        <p:spPr>
          <a:xfrm>
            <a:off x="5504688" y="3108960"/>
            <a:ext cx="2660904" cy="841248"/>
          </a:xfrm>
          <a:prstGeom prst="rect">
            <a:avLst/>
          </a:prstGeom>
          <a:noFill/>
          <a:ln/>
        </p:spPr>
        <p:txBody>
          <a:bodyPr wrap="square" lIns="0" tIns="0" rIns="0" bIns="0" rtlCol="0" anchor="t"/>
          <a:lstStyle/>
          <a:p>
            <a:pPr indent="0" marL="0">
              <a:lnSpc>
                <a:spcPct val="105000"/>
              </a:lnSpc>
              <a:buNone/>
            </a:pPr>
            <a:r>
              <a:rPr lang="en-US" sz="1200" dirty="0">
                <a:solidFill>
                  <a:srgbClr val="262220"/>
                </a:solidFill>
                <a:latin typeface="Calibri" pitchFamily="34" charset="0"/>
                <a:ea typeface="Calibri" pitchFamily="34" charset="-122"/>
                <a:cs typeface="Calibri" pitchFamily="34" charset="-120"/>
              </a:rPr>
              <a:t>Finds the shortest path for simple, uniform layouts.</a:t>
            </a:r>
            <a:endParaRPr lang="en-US" sz="1200" dirty="0"/>
          </a:p>
        </p:txBody>
      </p:sp>
      <p:sp>
        <p:nvSpPr>
          <p:cNvPr id="26" name="Shape 22"/>
          <p:cNvSpPr/>
          <p:nvPr/>
        </p:nvSpPr>
        <p:spPr>
          <a:xfrm>
            <a:off x="8641080" y="2606040"/>
            <a:ext cx="3063240" cy="1417320"/>
          </a:xfrm>
          <a:prstGeom prst="roundRect">
            <a:avLst>
              <a:gd name="adj" fmla="val 5161"/>
            </a:avLst>
          </a:prstGeom>
          <a:solidFill>
            <a:srgbClr val="FCF6F5"/>
          </a:solidFill>
          <a:ln w="12700">
            <a:solidFill>
              <a:srgbClr val="EADEDC"/>
            </a:solidFill>
            <a:prstDash val="solid"/>
          </a:ln>
        </p:spPr>
      </p:sp>
      <p:sp>
        <p:nvSpPr>
          <p:cNvPr id="27" name="Text 23"/>
          <p:cNvSpPr/>
          <p:nvPr/>
        </p:nvSpPr>
        <p:spPr>
          <a:xfrm>
            <a:off x="8842248" y="2734056"/>
            <a:ext cx="2660904" cy="365760"/>
          </a:xfrm>
          <a:prstGeom prst="rect">
            <a:avLst/>
          </a:prstGeom>
          <a:noFill/>
          <a:ln/>
        </p:spPr>
        <p:txBody>
          <a:bodyPr wrap="square" lIns="0" tIns="0" rIns="0" bIns="0" rtlCol="0" anchor="ctr"/>
          <a:lstStyle/>
          <a:p>
            <a:pPr indent="0" marL="0">
              <a:buNone/>
            </a:pPr>
            <a:r>
              <a:rPr lang="en-US" sz="1600" b="1" dirty="0">
                <a:solidFill>
                  <a:srgbClr val="2F3C7E"/>
                </a:solidFill>
                <a:latin typeface="Cambria" pitchFamily="34" charset="0"/>
                <a:ea typeface="Cambria" pitchFamily="34" charset="-122"/>
                <a:cs typeface="Cambria" pitchFamily="34" charset="-120"/>
              </a:rPr>
              <a:t>UCS</a:t>
            </a:r>
            <a:endParaRPr lang="en-US" sz="1600" dirty="0"/>
          </a:p>
        </p:txBody>
      </p:sp>
      <p:sp>
        <p:nvSpPr>
          <p:cNvPr id="28" name="Text 24"/>
          <p:cNvSpPr/>
          <p:nvPr/>
        </p:nvSpPr>
        <p:spPr>
          <a:xfrm>
            <a:off x="8842248" y="3108960"/>
            <a:ext cx="2660904" cy="841248"/>
          </a:xfrm>
          <a:prstGeom prst="rect">
            <a:avLst/>
          </a:prstGeom>
          <a:noFill/>
          <a:ln/>
        </p:spPr>
        <p:txBody>
          <a:bodyPr wrap="square" lIns="0" tIns="0" rIns="0" bIns="0" rtlCol="0" anchor="t"/>
          <a:lstStyle/>
          <a:p>
            <a:pPr indent="0" marL="0">
              <a:lnSpc>
                <a:spcPct val="105000"/>
              </a:lnSpc>
              <a:buNone/>
            </a:pPr>
            <a:r>
              <a:rPr lang="en-US" sz="1200" dirty="0">
                <a:solidFill>
                  <a:srgbClr val="262220"/>
                </a:solidFill>
                <a:latin typeface="Calibri" pitchFamily="34" charset="0"/>
                <a:ea typeface="Calibri" pitchFamily="34" charset="-122"/>
                <a:cs typeface="Calibri" pitchFamily="34" charset="-120"/>
              </a:rPr>
              <a:t>Finds the least-cost pathway across weighted corridors.</a:t>
            </a:r>
            <a:endParaRPr lang="en-US" sz="1200" dirty="0"/>
          </a:p>
        </p:txBody>
      </p:sp>
      <p:sp>
        <p:nvSpPr>
          <p:cNvPr id="29" name="Shape 25"/>
          <p:cNvSpPr/>
          <p:nvPr/>
        </p:nvSpPr>
        <p:spPr>
          <a:xfrm>
            <a:off x="5303520" y="4279392"/>
            <a:ext cx="3063240" cy="1417320"/>
          </a:xfrm>
          <a:prstGeom prst="roundRect">
            <a:avLst>
              <a:gd name="adj" fmla="val 5161"/>
            </a:avLst>
          </a:prstGeom>
          <a:solidFill>
            <a:srgbClr val="FCF6F5"/>
          </a:solidFill>
          <a:ln w="12700">
            <a:solidFill>
              <a:srgbClr val="EADEDC"/>
            </a:solidFill>
            <a:prstDash val="solid"/>
          </a:ln>
        </p:spPr>
      </p:sp>
      <p:sp>
        <p:nvSpPr>
          <p:cNvPr id="30" name="Text 26"/>
          <p:cNvSpPr/>
          <p:nvPr/>
        </p:nvSpPr>
        <p:spPr>
          <a:xfrm>
            <a:off x="5504688" y="4407408"/>
            <a:ext cx="2660904" cy="365760"/>
          </a:xfrm>
          <a:prstGeom prst="rect">
            <a:avLst/>
          </a:prstGeom>
          <a:noFill/>
          <a:ln/>
        </p:spPr>
        <p:txBody>
          <a:bodyPr wrap="square" lIns="0" tIns="0" rIns="0" bIns="0" rtlCol="0" anchor="ctr"/>
          <a:lstStyle/>
          <a:p>
            <a:pPr indent="0" marL="0">
              <a:buNone/>
            </a:pPr>
            <a:r>
              <a:rPr lang="en-US" sz="1600" b="1" dirty="0">
                <a:solidFill>
                  <a:srgbClr val="2F3C7E"/>
                </a:solidFill>
                <a:latin typeface="Cambria" pitchFamily="34" charset="0"/>
                <a:ea typeface="Cambria" pitchFamily="34" charset="-122"/>
                <a:cs typeface="Cambria" pitchFamily="34" charset="-120"/>
              </a:rPr>
              <a:t>A*</a:t>
            </a:r>
            <a:endParaRPr lang="en-US" sz="1600" dirty="0"/>
          </a:p>
        </p:txBody>
      </p:sp>
      <p:sp>
        <p:nvSpPr>
          <p:cNvPr id="31" name="Text 27"/>
          <p:cNvSpPr/>
          <p:nvPr/>
        </p:nvSpPr>
        <p:spPr>
          <a:xfrm>
            <a:off x="5504688" y="4782312"/>
            <a:ext cx="2660904" cy="841248"/>
          </a:xfrm>
          <a:prstGeom prst="rect">
            <a:avLst/>
          </a:prstGeom>
          <a:noFill/>
          <a:ln/>
        </p:spPr>
        <p:txBody>
          <a:bodyPr wrap="square" lIns="0" tIns="0" rIns="0" bIns="0" rtlCol="0" anchor="t"/>
          <a:lstStyle/>
          <a:p>
            <a:pPr indent="0" marL="0">
              <a:lnSpc>
                <a:spcPct val="105000"/>
              </a:lnSpc>
              <a:buNone/>
            </a:pPr>
            <a:r>
              <a:rPr lang="en-US" sz="1200" dirty="0">
                <a:solidFill>
                  <a:srgbClr val="262220"/>
                </a:solidFill>
                <a:latin typeface="Calibri" pitchFamily="34" charset="0"/>
                <a:ea typeface="Calibri" pitchFamily="34" charset="-122"/>
                <a:cs typeface="Calibri" pitchFamily="34" charset="-120"/>
              </a:rPr>
              <a:t>Heuristic search tracking visited nodes for efficient routing.</a:t>
            </a:r>
            <a:endParaRPr lang="en-US" sz="1200" dirty="0"/>
          </a:p>
        </p:txBody>
      </p:sp>
      <p:sp>
        <p:nvSpPr>
          <p:cNvPr id="32" name="Shape 28"/>
          <p:cNvSpPr/>
          <p:nvPr/>
        </p:nvSpPr>
        <p:spPr>
          <a:xfrm>
            <a:off x="8641080" y="4279392"/>
            <a:ext cx="3063240" cy="1417320"/>
          </a:xfrm>
          <a:prstGeom prst="roundRect">
            <a:avLst>
              <a:gd name="adj" fmla="val 5161"/>
            </a:avLst>
          </a:prstGeom>
          <a:solidFill>
            <a:srgbClr val="FCF6F5"/>
          </a:solidFill>
          <a:ln w="12700">
            <a:solidFill>
              <a:srgbClr val="EADEDC"/>
            </a:solidFill>
            <a:prstDash val="solid"/>
          </a:ln>
        </p:spPr>
      </p:sp>
      <p:sp>
        <p:nvSpPr>
          <p:cNvPr id="33" name="Text 29"/>
          <p:cNvSpPr/>
          <p:nvPr/>
        </p:nvSpPr>
        <p:spPr>
          <a:xfrm>
            <a:off x="8842248" y="4407408"/>
            <a:ext cx="2660904" cy="365760"/>
          </a:xfrm>
          <a:prstGeom prst="rect">
            <a:avLst/>
          </a:prstGeom>
          <a:noFill/>
          <a:ln/>
        </p:spPr>
        <p:txBody>
          <a:bodyPr wrap="square" lIns="0" tIns="0" rIns="0" bIns="0" rtlCol="0" anchor="ctr"/>
          <a:lstStyle/>
          <a:p>
            <a:pPr indent="0" marL="0">
              <a:buNone/>
            </a:pPr>
            <a:r>
              <a:rPr lang="en-US" sz="1600" b="1" dirty="0">
                <a:solidFill>
                  <a:srgbClr val="2F3C7E"/>
                </a:solidFill>
                <a:latin typeface="Cambria" pitchFamily="34" charset="0"/>
                <a:ea typeface="Cambria" pitchFamily="34" charset="-122"/>
                <a:cs typeface="Cambria" pitchFamily="34" charset="-120"/>
              </a:rPr>
              <a:t>Greedy</a:t>
            </a:r>
            <a:endParaRPr lang="en-US" sz="1600" dirty="0"/>
          </a:p>
        </p:txBody>
      </p:sp>
      <p:sp>
        <p:nvSpPr>
          <p:cNvPr id="34" name="Text 30"/>
          <p:cNvSpPr/>
          <p:nvPr/>
        </p:nvSpPr>
        <p:spPr>
          <a:xfrm>
            <a:off x="8842248" y="4782312"/>
            <a:ext cx="2660904" cy="841248"/>
          </a:xfrm>
          <a:prstGeom prst="rect">
            <a:avLst/>
          </a:prstGeom>
          <a:noFill/>
          <a:ln/>
        </p:spPr>
        <p:txBody>
          <a:bodyPr wrap="square" lIns="0" tIns="0" rIns="0" bIns="0" rtlCol="0" anchor="t"/>
          <a:lstStyle/>
          <a:p>
            <a:pPr indent="0" marL="0">
              <a:lnSpc>
                <a:spcPct val="105000"/>
              </a:lnSpc>
              <a:buNone/>
            </a:pPr>
            <a:r>
              <a:rPr lang="en-US" sz="1200" dirty="0">
                <a:solidFill>
                  <a:srgbClr val="262220"/>
                </a:solidFill>
                <a:latin typeface="Calibri" pitchFamily="34" charset="0"/>
                <a:ea typeface="Calibri" pitchFamily="34" charset="-122"/>
                <a:cs typeface="Calibri" pitchFamily="34" charset="-120"/>
              </a:rPr>
              <a:t>Quickly narrows toward the nearest promising exit.</a:t>
            </a:r>
            <a:endParaRPr lang="en-US" sz="1200" dirty="0"/>
          </a:p>
        </p:txBody>
      </p:sp>
      <p:sp>
        <p:nvSpPr>
          <p:cNvPr id="35" name="Text 31"/>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50" dirty="0">
                <a:solidFill>
                  <a:srgbClr val="6B6360"/>
                </a:solidFill>
                <a:latin typeface="Calibri" pitchFamily="34" charset="0"/>
                <a:ea typeface="Calibri" pitchFamily="34" charset="-122"/>
                <a:cs typeface="Calibri" pitchFamily="34" charset="-120"/>
              </a:rPr>
              <a:t>Emergency Evacuation Path Planner</a:t>
            </a:r>
            <a:endParaRPr lang="en-US" sz="950" dirty="0"/>
          </a:p>
        </p:txBody>
      </p:sp>
      <p:sp>
        <p:nvSpPr>
          <p:cNvPr id="36" name="Text 32"/>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50" dirty="0">
                <a:solidFill>
                  <a:srgbClr val="6B6360"/>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6F5"/>
        </a:solidFill>
      </p:bgPr>
    </p:bg>
    <p:spTree>
      <p:nvGrpSpPr>
        <p:cNvPr id="1" name=""/>
        <p:cNvGrpSpPr/>
        <p:nvPr/>
      </p:nvGrpSpPr>
      <p:grpSpPr>
        <a:xfrm>
          <a:off x="0" y="0"/>
          <a:ext cx="0" cy="0"/>
          <a:chOff x="0" y="0"/>
          <a:chExt cx="0" cy="0"/>
        </a:xfrm>
      </p:grpSpPr>
      <p:sp>
        <p:nvSpPr>
          <p:cNvPr id="2" name="Text 0"/>
          <p:cNvSpPr/>
          <p:nvPr/>
        </p:nvSpPr>
        <p:spPr>
          <a:xfrm>
            <a:off x="548640" y="384048"/>
            <a:ext cx="8229600" cy="292608"/>
          </a:xfrm>
          <a:prstGeom prst="rect">
            <a:avLst/>
          </a:prstGeom>
          <a:noFill/>
          <a:ln/>
        </p:spPr>
        <p:txBody>
          <a:bodyPr wrap="square" lIns="0" tIns="0" rIns="0" bIns="0" rtlCol="0" anchor="ctr"/>
          <a:lstStyle/>
          <a:p>
            <a:pPr indent="0" marL="0">
              <a:buNone/>
            </a:pPr>
            <a:r>
              <a:rPr lang="en-US" sz="1300" b="1" spc="200" kern="0" dirty="0">
                <a:solidFill>
                  <a:srgbClr val="990011"/>
                </a:solidFill>
                <a:latin typeface="Calibri" pitchFamily="34" charset="0"/>
                <a:ea typeface="Calibri" pitchFamily="34" charset="-122"/>
                <a:cs typeface="Calibri" pitchFamily="34" charset="-120"/>
              </a:rPr>
              <a:t>MODULE 3 &amp; 4</a:t>
            </a:r>
            <a:endParaRPr lang="en-US" sz="1300" dirty="0"/>
          </a:p>
        </p:txBody>
      </p:sp>
      <p:sp>
        <p:nvSpPr>
          <p:cNvPr id="3" name="Text 1"/>
          <p:cNvSpPr/>
          <p:nvPr/>
        </p:nvSpPr>
        <p:spPr>
          <a:xfrm>
            <a:off x="530352" y="658368"/>
            <a:ext cx="10607040" cy="566928"/>
          </a:xfrm>
          <a:prstGeom prst="rect">
            <a:avLst/>
          </a:prstGeom>
          <a:noFill/>
          <a:ln/>
        </p:spPr>
        <p:txBody>
          <a:bodyPr wrap="square" lIns="0" tIns="0" rIns="0" bIns="0" rtlCol="0" anchor="ctr"/>
          <a:lstStyle/>
          <a:p>
            <a:pPr indent="0" marL="0">
              <a:buNone/>
            </a:pPr>
            <a:r>
              <a:rPr lang="en-US" sz="3000" b="1" dirty="0">
                <a:solidFill>
                  <a:srgbClr val="2F3C7E"/>
                </a:solidFill>
                <a:latin typeface="Cambria" pitchFamily="34" charset="0"/>
                <a:ea typeface="Cambria" pitchFamily="34" charset="-122"/>
                <a:cs typeface="Cambria" pitchFamily="34" charset="-120"/>
              </a:rPr>
              <a:t>Constraint Satisfaction &amp; Decision Making</a:t>
            </a:r>
            <a:endParaRPr lang="en-US" sz="3000" dirty="0"/>
          </a:p>
        </p:txBody>
      </p:sp>
      <p:sp>
        <p:nvSpPr>
          <p:cNvPr id="4" name="Shape 2"/>
          <p:cNvSpPr/>
          <p:nvPr/>
        </p:nvSpPr>
        <p:spPr>
          <a:xfrm>
            <a:off x="548640" y="1463040"/>
            <a:ext cx="5349240" cy="4434840"/>
          </a:xfrm>
          <a:prstGeom prst="roundRect">
            <a:avLst>
              <a:gd name="adj" fmla="val 1856"/>
            </a:avLst>
          </a:prstGeom>
          <a:solidFill>
            <a:srgbClr val="FFFFFF"/>
          </a:solidFill>
          <a:ln/>
          <a:effectLst>
            <a:outerShdw sx="100000" sy="100000" kx="0" ky="0" algn="bl" rotWithShape="0" blurRad="101600" dist="38100" dir="5400000">
              <a:srgbClr val="1A1A1A">
                <a:alpha val="12000"/>
              </a:srgbClr>
            </a:outerShdw>
          </a:effectLst>
        </p:spPr>
      </p:sp>
      <p:sp>
        <p:nvSpPr>
          <p:cNvPr id="5" name="Shape 3"/>
          <p:cNvSpPr/>
          <p:nvPr/>
        </p:nvSpPr>
        <p:spPr>
          <a:xfrm>
            <a:off x="868680" y="1783080"/>
            <a:ext cx="566928" cy="566928"/>
          </a:xfrm>
          <a:prstGeom prst="ellipse">
            <a:avLst/>
          </a:prstGeom>
          <a:solidFill>
            <a:srgbClr val="1E7B4D"/>
          </a:solidFill>
          <a:ln/>
        </p:spPr>
      </p:sp>
      <p:pic>
        <p:nvPicPr>
          <p:cNvPr id="6" name="Image 0" descr="images/icon_shield.png">    </p:cNvPr>
          <p:cNvPicPr>
            <a:picLocks noChangeAspect="1"/>
          </p:cNvPicPr>
          <p:nvPr/>
        </p:nvPicPr>
        <p:blipFill>
          <a:blip r:embed="rId1"/>
          <a:stretch>
            <a:fillRect/>
          </a:stretch>
        </p:blipFill>
        <p:spPr>
          <a:xfrm>
            <a:off x="1016081" y="1930481"/>
            <a:ext cx="272125" cy="272125"/>
          </a:xfrm>
          <a:prstGeom prst="rect">
            <a:avLst/>
          </a:prstGeom>
        </p:spPr>
      </p:pic>
      <p:sp>
        <p:nvSpPr>
          <p:cNvPr id="7" name="Text 4"/>
          <p:cNvSpPr/>
          <p:nvPr/>
        </p:nvSpPr>
        <p:spPr>
          <a:xfrm>
            <a:off x="1627632" y="1755648"/>
            <a:ext cx="4069080" cy="594360"/>
          </a:xfrm>
          <a:prstGeom prst="rect">
            <a:avLst/>
          </a:prstGeom>
          <a:noFill/>
          <a:ln/>
        </p:spPr>
        <p:txBody>
          <a:bodyPr wrap="square" lIns="0" tIns="0" rIns="0" bIns="0" rtlCol="0" anchor="ctr"/>
          <a:lstStyle/>
          <a:p>
            <a:pPr indent="0" marL="0">
              <a:buNone/>
            </a:pPr>
            <a:r>
              <a:rPr lang="en-US" sz="1500" b="1" dirty="0">
                <a:solidFill>
                  <a:srgbClr val="1E7B4D"/>
                </a:solidFill>
                <a:latin typeface="Cambria" pitchFamily="34" charset="0"/>
                <a:ea typeface="Cambria" pitchFamily="34" charset="-122"/>
                <a:cs typeface="Cambria" pitchFamily="34" charset="-120"/>
              </a:rPr>
              <a:t>Module 3: Constraint Satisfaction (CSP)</a:t>
            </a:r>
            <a:endParaRPr lang="en-US" sz="1500" dirty="0"/>
          </a:p>
        </p:txBody>
      </p:sp>
      <p:sp>
        <p:nvSpPr>
          <p:cNvPr id="8" name="Shape 5"/>
          <p:cNvSpPr/>
          <p:nvPr/>
        </p:nvSpPr>
        <p:spPr>
          <a:xfrm>
            <a:off x="868680" y="2697480"/>
            <a:ext cx="365760" cy="365760"/>
          </a:xfrm>
          <a:prstGeom prst="ellipse">
            <a:avLst/>
          </a:prstGeom>
          <a:solidFill>
            <a:srgbClr val="1E7B4D"/>
          </a:solidFill>
          <a:ln/>
        </p:spPr>
      </p:sp>
      <p:pic>
        <p:nvPicPr>
          <p:cNvPr id="9" name="Image 1" descr="images/icon_check.png">    </p:cNvPr>
          <p:cNvPicPr>
            <a:picLocks noChangeAspect="1"/>
          </p:cNvPicPr>
          <p:nvPr/>
        </p:nvPicPr>
        <p:blipFill>
          <a:blip r:embed="rId2"/>
          <a:stretch>
            <a:fillRect/>
          </a:stretch>
        </p:blipFill>
        <p:spPr>
          <a:xfrm>
            <a:off x="963778" y="2792578"/>
            <a:ext cx="175565" cy="175565"/>
          </a:xfrm>
          <a:prstGeom prst="rect">
            <a:avLst/>
          </a:prstGeom>
        </p:spPr>
      </p:pic>
      <p:sp>
        <p:nvSpPr>
          <p:cNvPr id="10" name="Text 6"/>
          <p:cNvSpPr/>
          <p:nvPr/>
        </p:nvSpPr>
        <p:spPr>
          <a:xfrm>
            <a:off x="1371600" y="2679192"/>
            <a:ext cx="4297680" cy="411480"/>
          </a:xfrm>
          <a:prstGeom prst="rect">
            <a:avLst/>
          </a:prstGeom>
          <a:noFill/>
          <a:ln/>
        </p:spPr>
        <p:txBody>
          <a:bodyPr wrap="square" lIns="0" tIns="0" rIns="0" bIns="0" rtlCol="0" anchor="ctr"/>
          <a:lstStyle/>
          <a:p>
            <a:pPr indent="0" marL="0">
              <a:buNone/>
            </a:pPr>
            <a:r>
              <a:rPr lang="en-US" sz="1300" dirty="0">
                <a:solidFill>
                  <a:srgbClr val="262220"/>
                </a:solidFill>
                <a:latin typeface="Calibri" pitchFamily="34" charset="0"/>
                <a:ea typeface="Calibri" pitchFamily="34" charset="-122"/>
                <a:cs typeface="Calibri" pitchFamily="34" charset="-120"/>
              </a:rPr>
              <a:t>Blocks unsafe or hazard-affected paths</a:t>
            </a:r>
            <a:endParaRPr lang="en-US" sz="1300" dirty="0"/>
          </a:p>
        </p:txBody>
      </p:sp>
      <p:sp>
        <p:nvSpPr>
          <p:cNvPr id="11" name="Shape 7"/>
          <p:cNvSpPr/>
          <p:nvPr/>
        </p:nvSpPr>
        <p:spPr>
          <a:xfrm>
            <a:off x="868680" y="3264408"/>
            <a:ext cx="365760" cy="365760"/>
          </a:xfrm>
          <a:prstGeom prst="ellipse">
            <a:avLst/>
          </a:prstGeom>
          <a:solidFill>
            <a:srgbClr val="1E7B4D"/>
          </a:solidFill>
          <a:ln/>
        </p:spPr>
      </p:sp>
      <p:pic>
        <p:nvPicPr>
          <p:cNvPr id="12" name="Image 2" descr="images/icon_check.png">    </p:cNvPr>
          <p:cNvPicPr>
            <a:picLocks noChangeAspect="1"/>
          </p:cNvPicPr>
          <p:nvPr/>
        </p:nvPicPr>
        <p:blipFill>
          <a:blip r:embed="rId3"/>
          <a:stretch>
            <a:fillRect/>
          </a:stretch>
        </p:blipFill>
        <p:spPr>
          <a:xfrm>
            <a:off x="963778" y="3359506"/>
            <a:ext cx="175565" cy="175565"/>
          </a:xfrm>
          <a:prstGeom prst="rect">
            <a:avLst/>
          </a:prstGeom>
        </p:spPr>
      </p:pic>
      <p:sp>
        <p:nvSpPr>
          <p:cNvPr id="13" name="Text 8"/>
          <p:cNvSpPr/>
          <p:nvPr/>
        </p:nvSpPr>
        <p:spPr>
          <a:xfrm>
            <a:off x="1371600" y="3246120"/>
            <a:ext cx="4297680" cy="411480"/>
          </a:xfrm>
          <a:prstGeom prst="rect">
            <a:avLst/>
          </a:prstGeom>
          <a:noFill/>
          <a:ln/>
        </p:spPr>
        <p:txBody>
          <a:bodyPr wrap="square" lIns="0" tIns="0" rIns="0" bIns="0" rtlCol="0" anchor="ctr"/>
          <a:lstStyle/>
          <a:p>
            <a:pPr indent="0" marL="0">
              <a:buNone/>
            </a:pPr>
            <a:r>
              <a:rPr lang="en-US" sz="1300" dirty="0">
                <a:solidFill>
                  <a:srgbClr val="262220"/>
                </a:solidFill>
                <a:latin typeface="Calibri" pitchFamily="34" charset="0"/>
                <a:ea typeface="Calibri" pitchFamily="34" charset="-122"/>
                <a:cs typeface="Calibri" pitchFamily="34" charset="-120"/>
              </a:rPr>
              <a:t>Avoids overcrowded routes near exits</a:t>
            </a:r>
            <a:endParaRPr lang="en-US" sz="1300" dirty="0"/>
          </a:p>
        </p:txBody>
      </p:sp>
      <p:sp>
        <p:nvSpPr>
          <p:cNvPr id="14" name="Shape 9"/>
          <p:cNvSpPr/>
          <p:nvPr/>
        </p:nvSpPr>
        <p:spPr>
          <a:xfrm>
            <a:off x="868680" y="3831336"/>
            <a:ext cx="365760" cy="365760"/>
          </a:xfrm>
          <a:prstGeom prst="ellipse">
            <a:avLst/>
          </a:prstGeom>
          <a:solidFill>
            <a:srgbClr val="1E7B4D"/>
          </a:solidFill>
          <a:ln/>
        </p:spPr>
      </p:sp>
      <p:pic>
        <p:nvPicPr>
          <p:cNvPr id="15" name="Image 3" descr="images/icon_check.png">    </p:cNvPr>
          <p:cNvPicPr>
            <a:picLocks noChangeAspect="1"/>
          </p:cNvPicPr>
          <p:nvPr/>
        </p:nvPicPr>
        <p:blipFill>
          <a:blip r:embed="rId4"/>
          <a:stretch>
            <a:fillRect/>
          </a:stretch>
        </p:blipFill>
        <p:spPr>
          <a:xfrm>
            <a:off x="963778" y="3926434"/>
            <a:ext cx="175565" cy="175565"/>
          </a:xfrm>
          <a:prstGeom prst="rect">
            <a:avLst/>
          </a:prstGeom>
        </p:spPr>
      </p:pic>
      <p:sp>
        <p:nvSpPr>
          <p:cNvPr id="16" name="Text 10"/>
          <p:cNvSpPr/>
          <p:nvPr/>
        </p:nvSpPr>
        <p:spPr>
          <a:xfrm>
            <a:off x="1371600" y="3813048"/>
            <a:ext cx="4297680" cy="411480"/>
          </a:xfrm>
          <a:prstGeom prst="rect">
            <a:avLst/>
          </a:prstGeom>
          <a:noFill/>
          <a:ln/>
        </p:spPr>
        <p:txBody>
          <a:bodyPr wrap="square" lIns="0" tIns="0" rIns="0" bIns="0" rtlCol="0" anchor="ctr"/>
          <a:lstStyle/>
          <a:p>
            <a:pPr indent="0" marL="0">
              <a:buNone/>
            </a:pPr>
            <a:r>
              <a:rPr lang="en-US" sz="1300" dirty="0">
                <a:solidFill>
                  <a:srgbClr val="262220"/>
                </a:solidFill>
                <a:latin typeface="Calibri" pitchFamily="34" charset="0"/>
                <a:ea typeface="Calibri" pitchFamily="34" charset="-122"/>
                <a:cs typeface="Calibri" pitchFamily="34" charset="-120"/>
              </a:rPr>
              <a:t>Filters candidate paths before final selection</a:t>
            </a:r>
            <a:endParaRPr lang="en-US" sz="1300" dirty="0"/>
          </a:p>
        </p:txBody>
      </p:sp>
      <p:sp>
        <p:nvSpPr>
          <p:cNvPr id="17" name="Shape 11"/>
          <p:cNvSpPr/>
          <p:nvPr/>
        </p:nvSpPr>
        <p:spPr>
          <a:xfrm>
            <a:off x="868680" y="4443984"/>
            <a:ext cx="4709160" cy="0"/>
          </a:xfrm>
          <a:prstGeom prst="line">
            <a:avLst/>
          </a:prstGeom>
          <a:noFill/>
          <a:ln w="12700">
            <a:solidFill>
              <a:srgbClr val="DCD5D3"/>
            </a:solidFill>
            <a:prstDash val="solid"/>
          </a:ln>
        </p:spPr>
      </p:sp>
      <p:sp>
        <p:nvSpPr>
          <p:cNvPr id="18" name="Text 12"/>
          <p:cNvSpPr/>
          <p:nvPr/>
        </p:nvSpPr>
        <p:spPr>
          <a:xfrm>
            <a:off x="868680" y="4599432"/>
            <a:ext cx="4709160" cy="1005840"/>
          </a:xfrm>
          <a:prstGeom prst="rect">
            <a:avLst/>
          </a:prstGeom>
          <a:noFill/>
          <a:ln/>
        </p:spPr>
        <p:txBody>
          <a:bodyPr wrap="square" lIns="0" tIns="0" rIns="0" bIns="0" rtlCol="0" anchor="t"/>
          <a:lstStyle/>
          <a:p>
            <a:pPr indent="0" marL="0">
              <a:buNone/>
            </a:pPr>
            <a:r>
              <a:rPr lang="en-US" sz="1250" i="1" dirty="0">
                <a:solidFill>
                  <a:srgbClr val="6B6360"/>
                </a:solidFill>
                <a:latin typeface="Calibri" pitchFamily="34" charset="0"/>
                <a:ea typeface="Calibri" pitchFamily="34" charset="-122"/>
                <a:cs typeface="Calibri" pitchFamily="34" charset="-120"/>
              </a:rPr>
              <a:t>Outcome: only safe, viable paths reach the decision stage.</a:t>
            </a:r>
            <a:endParaRPr lang="en-US" sz="1250" dirty="0"/>
          </a:p>
        </p:txBody>
      </p:sp>
      <p:sp>
        <p:nvSpPr>
          <p:cNvPr id="19" name="Shape 13"/>
          <p:cNvSpPr/>
          <p:nvPr/>
        </p:nvSpPr>
        <p:spPr>
          <a:xfrm>
            <a:off x="6080760" y="1463040"/>
            <a:ext cx="5559552" cy="4434840"/>
          </a:xfrm>
          <a:prstGeom prst="roundRect">
            <a:avLst>
              <a:gd name="adj" fmla="val 1856"/>
            </a:avLst>
          </a:prstGeom>
          <a:solidFill>
            <a:srgbClr val="2F3C7E"/>
          </a:solidFill>
          <a:ln/>
          <a:effectLst>
            <a:outerShdw sx="100000" sy="100000" kx="0" ky="0" algn="bl" rotWithShape="0" blurRad="101600" dist="38100" dir="5400000">
              <a:srgbClr val="1A1A1A">
                <a:alpha val="12000"/>
              </a:srgbClr>
            </a:outerShdw>
          </a:effectLst>
        </p:spPr>
      </p:sp>
      <p:sp>
        <p:nvSpPr>
          <p:cNvPr id="20" name="Shape 14"/>
          <p:cNvSpPr/>
          <p:nvPr/>
        </p:nvSpPr>
        <p:spPr>
          <a:xfrm>
            <a:off x="6400800" y="1783080"/>
            <a:ext cx="566928" cy="566928"/>
          </a:xfrm>
          <a:prstGeom prst="ellipse">
            <a:avLst/>
          </a:prstGeom>
          <a:solidFill>
            <a:srgbClr val="990011"/>
          </a:solidFill>
          <a:ln/>
        </p:spPr>
      </p:sp>
      <p:pic>
        <p:nvPicPr>
          <p:cNvPr id="21" name="Image 4" descr="images/icon_chess.png">    </p:cNvPr>
          <p:cNvPicPr>
            <a:picLocks noChangeAspect="1"/>
          </p:cNvPicPr>
          <p:nvPr/>
        </p:nvPicPr>
        <p:blipFill>
          <a:blip r:embed="rId5"/>
          <a:stretch>
            <a:fillRect/>
          </a:stretch>
        </p:blipFill>
        <p:spPr>
          <a:xfrm>
            <a:off x="6548201" y="1930481"/>
            <a:ext cx="272125" cy="272125"/>
          </a:xfrm>
          <a:prstGeom prst="rect">
            <a:avLst/>
          </a:prstGeom>
        </p:spPr>
      </p:pic>
      <p:sp>
        <p:nvSpPr>
          <p:cNvPr id="22" name="Text 15"/>
          <p:cNvSpPr/>
          <p:nvPr/>
        </p:nvSpPr>
        <p:spPr>
          <a:xfrm>
            <a:off x="7178040" y="1755648"/>
            <a:ext cx="4251960" cy="5943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Module 4: Decision Making (Adversarial)</a:t>
            </a:r>
            <a:endParaRPr lang="en-US" sz="1500" dirty="0"/>
          </a:p>
        </p:txBody>
      </p:sp>
      <p:sp>
        <p:nvSpPr>
          <p:cNvPr id="23" name="Text 16"/>
          <p:cNvSpPr/>
          <p:nvPr/>
        </p:nvSpPr>
        <p:spPr>
          <a:xfrm>
            <a:off x="6400800" y="2606040"/>
            <a:ext cx="4937760" cy="274320"/>
          </a:xfrm>
          <a:prstGeom prst="rect">
            <a:avLst/>
          </a:prstGeom>
          <a:noFill/>
          <a:ln/>
        </p:spPr>
        <p:txBody>
          <a:bodyPr wrap="square" lIns="0" tIns="0" rIns="0" bIns="0" rtlCol="0" anchor="ctr"/>
          <a:lstStyle/>
          <a:p>
            <a:pPr indent="0" marL="0">
              <a:buNone/>
            </a:pPr>
            <a:r>
              <a:rPr lang="en-US" sz="1250" b="1" dirty="0">
                <a:solidFill>
                  <a:srgbClr val="FFD9DC"/>
                </a:solidFill>
                <a:latin typeface="Calibri" pitchFamily="34" charset="0"/>
                <a:ea typeface="Calibri" pitchFamily="34" charset="-122"/>
                <a:cs typeface="Calibri" pitchFamily="34" charset="-120"/>
              </a:rPr>
              <a:t>Competing factors</a:t>
            </a:r>
            <a:endParaRPr lang="en-US" sz="1250" dirty="0"/>
          </a:p>
        </p:txBody>
      </p:sp>
      <p:sp>
        <p:nvSpPr>
          <p:cNvPr id="24" name="Text 17"/>
          <p:cNvSpPr/>
          <p:nvPr/>
        </p:nvSpPr>
        <p:spPr>
          <a:xfrm>
            <a:off x="6400800" y="2907792"/>
            <a:ext cx="4937760" cy="365760"/>
          </a:xfrm>
          <a:prstGeom prst="rect">
            <a:avLst/>
          </a:prstGeom>
          <a:noFill/>
          <a:ln/>
        </p:spPr>
        <p:txBody>
          <a:bodyPr wrap="square" lIns="0" tIns="0" rIns="0" bIns="0" rtlCol="0" anchor="ctr"/>
          <a:lstStyle/>
          <a:p>
            <a:pPr indent="0" marL="0">
              <a:buNone/>
            </a:pPr>
            <a:r>
              <a:rPr lang="en-US" sz="1300" i="1" dirty="0">
                <a:solidFill>
                  <a:srgbClr val="EFE9F5"/>
                </a:solidFill>
                <a:latin typeface="Calibri" pitchFamily="34" charset="0"/>
                <a:ea typeface="Calibri" pitchFamily="34" charset="-122"/>
                <a:cs typeface="Calibri" pitchFamily="34" charset="-120"/>
              </a:rPr>
              <a:t>Fire spreading vs. safe occupant movement</a:t>
            </a:r>
            <a:endParaRPr lang="en-US" sz="1300" dirty="0"/>
          </a:p>
        </p:txBody>
      </p:sp>
      <p:sp>
        <p:nvSpPr>
          <p:cNvPr id="25" name="Shape 18"/>
          <p:cNvSpPr/>
          <p:nvPr/>
        </p:nvSpPr>
        <p:spPr>
          <a:xfrm>
            <a:off x="6400800" y="3364992"/>
            <a:ext cx="4892040" cy="0"/>
          </a:xfrm>
          <a:prstGeom prst="line">
            <a:avLst/>
          </a:prstGeom>
          <a:noFill/>
          <a:ln w="12700">
            <a:solidFill>
              <a:srgbClr val="5B6AAE"/>
            </a:solidFill>
            <a:prstDash val="solid"/>
          </a:ln>
        </p:spPr>
      </p:sp>
      <p:sp>
        <p:nvSpPr>
          <p:cNvPr id="26" name="Text 19"/>
          <p:cNvSpPr/>
          <p:nvPr/>
        </p:nvSpPr>
        <p:spPr>
          <a:xfrm>
            <a:off x="6400800" y="3520440"/>
            <a:ext cx="4937760" cy="5029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Minimax  </a:t>
            </a:r>
            <a:pPr indent="0" marL="0">
              <a:buNone/>
            </a:pPr>
            <a:r>
              <a:rPr lang="en-US" sz="1300" dirty="0">
                <a:solidFill>
                  <a:srgbClr val="EFE9F5"/>
                </a:solidFill>
                <a:latin typeface="Calibri" pitchFamily="34" charset="0"/>
                <a:ea typeface="Calibri" pitchFamily="34" charset="-122"/>
                <a:cs typeface="Calibri" pitchFamily="34" charset="-120"/>
              </a:rPr>
              <a:t>→ chooses the overall safest route</a:t>
            </a:r>
            <a:endParaRPr lang="en-US" sz="1300" dirty="0"/>
          </a:p>
        </p:txBody>
      </p:sp>
      <p:sp>
        <p:nvSpPr>
          <p:cNvPr id="27" name="Text 20"/>
          <p:cNvSpPr/>
          <p:nvPr/>
        </p:nvSpPr>
        <p:spPr>
          <a:xfrm>
            <a:off x="6400800" y="4023360"/>
            <a:ext cx="4937760" cy="5029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Alpha-Beta Pruning  </a:t>
            </a:r>
            <a:pPr indent="0" marL="0">
              <a:buNone/>
            </a:pPr>
            <a:r>
              <a:rPr lang="en-US" sz="1300" dirty="0">
                <a:solidFill>
                  <a:srgbClr val="EFE9F5"/>
                </a:solidFill>
                <a:latin typeface="Calibri" pitchFamily="34" charset="0"/>
                <a:ea typeface="Calibri" pitchFamily="34" charset="-122"/>
                <a:cs typeface="Calibri" pitchFamily="34" charset="-120"/>
              </a:rPr>
              <a:t>→ speeds up the decision</a:t>
            </a:r>
            <a:endParaRPr lang="en-US" sz="1300" dirty="0"/>
          </a:p>
        </p:txBody>
      </p:sp>
      <p:sp>
        <p:nvSpPr>
          <p:cNvPr id="28" name="Shape 21"/>
          <p:cNvSpPr/>
          <p:nvPr/>
        </p:nvSpPr>
        <p:spPr>
          <a:xfrm>
            <a:off x="6400800" y="4617720"/>
            <a:ext cx="4892040" cy="0"/>
          </a:xfrm>
          <a:prstGeom prst="line">
            <a:avLst/>
          </a:prstGeom>
          <a:noFill/>
          <a:ln w="12700">
            <a:solidFill>
              <a:srgbClr val="5B6AAE"/>
            </a:solidFill>
            <a:prstDash val="solid"/>
          </a:ln>
        </p:spPr>
      </p:sp>
      <p:sp>
        <p:nvSpPr>
          <p:cNvPr id="29" name="Text 22"/>
          <p:cNvSpPr/>
          <p:nvPr/>
        </p:nvSpPr>
        <p:spPr>
          <a:xfrm>
            <a:off x="6400800" y="4754880"/>
            <a:ext cx="4937760" cy="1005840"/>
          </a:xfrm>
          <a:prstGeom prst="rect">
            <a:avLst/>
          </a:prstGeom>
          <a:noFill/>
          <a:ln/>
        </p:spPr>
        <p:txBody>
          <a:bodyPr wrap="square" lIns="0" tIns="0" rIns="0" bIns="0" rtlCol="0" anchor="t"/>
          <a:lstStyle/>
          <a:p>
            <a:pPr indent="0" marL="0">
              <a:buNone/>
            </a:pPr>
            <a:r>
              <a:rPr lang="en-US" sz="1200" i="1" dirty="0">
                <a:solidFill>
                  <a:srgbClr val="C9CDE0"/>
                </a:solidFill>
                <a:latin typeface="Calibri" pitchFamily="34" charset="0"/>
                <a:ea typeface="Calibri" pitchFamily="34" charset="-122"/>
                <a:cs typeface="Calibri" pitchFamily="34" charset="-120"/>
              </a:rPr>
              <a:t>The agent treats hazard spread as an adversary, always optimizing for occupant safety first.</a:t>
            </a:r>
            <a:endParaRPr lang="en-US" sz="1200" dirty="0"/>
          </a:p>
        </p:txBody>
      </p:sp>
      <p:sp>
        <p:nvSpPr>
          <p:cNvPr id="30" name="Text 23"/>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50" dirty="0">
                <a:solidFill>
                  <a:srgbClr val="6B6360"/>
                </a:solidFill>
                <a:latin typeface="Calibri" pitchFamily="34" charset="0"/>
                <a:ea typeface="Calibri" pitchFamily="34" charset="-122"/>
                <a:cs typeface="Calibri" pitchFamily="34" charset="-120"/>
              </a:rPr>
              <a:t>Emergency Evacuation Path Planner</a:t>
            </a:r>
            <a:endParaRPr lang="en-US" sz="950" dirty="0"/>
          </a:p>
        </p:txBody>
      </p:sp>
      <p:sp>
        <p:nvSpPr>
          <p:cNvPr id="31" name="Text 24"/>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50" dirty="0">
                <a:solidFill>
                  <a:srgbClr val="6B6360"/>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6F5"/>
        </a:solidFill>
      </p:bgPr>
    </p:bg>
    <p:spTree>
      <p:nvGrpSpPr>
        <p:cNvPr id="1" name=""/>
        <p:cNvGrpSpPr/>
        <p:nvPr/>
      </p:nvGrpSpPr>
      <p:grpSpPr>
        <a:xfrm>
          <a:off x="0" y="0"/>
          <a:ext cx="0" cy="0"/>
          <a:chOff x="0" y="0"/>
          <a:chExt cx="0" cy="0"/>
        </a:xfrm>
      </p:grpSpPr>
      <p:sp>
        <p:nvSpPr>
          <p:cNvPr id="2" name="Text 0"/>
          <p:cNvSpPr/>
          <p:nvPr/>
        </p:nvSpPr>
        <p:spPr>
          <a:xfrm>
            <a:off x="548640" y="384048"/>
            <a:ext cx="8229600" cy="292608"/>
          </a:xfrm>
          <a:prstGeom prst="rect">
            <a:avLst/>
          </a:prstGeom>
          <a:noFill/>
          <a:ln/>
        </p:spPr>
        <p:txBody>
          <a:bodyPr wrap="square" lIns="0" tIns="0" rIns="0" bIns="0" rtlCol="0" anchor="ctr"/>
          <a:lstStyle/>
          <a:p>
            <a:pPr indent="0" marL="0">
              <a:buNone/>
            </a:pPr>
            <a:r>
              <a:rPr lang="en-US" sz="1300" b="1" spc="200" kern="0" dirty="0">
                <a:solidFill>
                  <a:srgbClr val="990011"/>
                </a:solidFill>
                <a:latin typeface="Calibri" pitchFamily="34" charset="0"/>
                <a:ea typeface="Calibri" pitchFamily="34" charset="-122"/>
                <a:cs typeface="Calibri" pitchFamily="34" charset="-120"/>
              </a:rPr>
              <a:t>MODULE 6</a:t>
            </a:r>
            <a:endParaRPr lang="en-US" sz="1300" dirty="0"/>
          </a:p>
        </p:txBody>
      </p:sp>
      <p:sp>
        <p:nvSpPr>
          <p:cNvPr id="3" name="Text 1"/>
          <p:cNvSpPr/>
          <p:nvPr/>
        </p:nvSpPr>
        <p:spPr>
          <a:xfrm>
            <a:off x="530352" y="658368"/>
            <a:ext cx="10607040" cy="566928"/>
          </a:xfrm>
          <a:prstGeom prst="rect">
            <a:avLst/>
          </a:prstGeom>
          <a:noFill/>
          <a:ln/>
        </p:spPr>
        <p:txBody>
          <a:bodyPr wrap="square" lIns="0" tIns="0" rIns="0" bIns="0" rtlCol="0" anchor="ctr"/>
          <a:lstStyle/>
          <a:p>
            <a:pPr indent="0" marL="0">
              <a:buNone/>
            </a:pPr>
            <a:r>
              <a:rPr lang="en-US" sz="3000" b="1" dirty="0">
                <a:solidFill>
                  <a:srgbClr val="2F3C7E"/>
                </a:solidFill>
                <a:latin typeface="Cambria" pitchFamily="34" charset="0"/>
                <a:ea typeface="Cambria" pitchFamily="34" charset="-122"/>
                <a:cs typeface="Cambria" pitchFamily="34" charset="-120"/>
              </a:rPr>
              <a:t>Integrated AI Pipeline &amp; System Architecture</a:t>
            </a:r>
            <a:endParaRPr lang="en-US" sz="3000" dirty="0"/>
          </a:p>
        </p:txBody>
      </p:sp>
      <p:sp>
        <p:nvSpPr>
          <p:cNvPr id="4" name="Shape 2"/>
          <p:cNvSpPr/>
          <p:nvPr/>
        </p:nvSpPr>
        <p:spPr>
          <a:xfrm>
            <a:off x="548640" y="1600200"/>
            <a:ext cx="2331720" cy="1783080"/>
          </a:xfrm>
          <a:prstGeom prst="roundRect">
            <a:avLst>
              <a:gd name="adj" fmla="val 4615"/>
            </a:avLst>
          </a:prstGeom>
          <a:solidFill>
            <a:srgbClr val="FFFFFF"/>
          </a:solidFill>
          <a:ln/>
          <a:effectLst>
            <a:outerShdw sx="100000" sy="100000" kx="0" ky="0" algn="bl" rotWithShape="0" blurRad="101600" dist="38100" dir="5400000">
              <a:srgbClr val="1A1A1A">
                <a:alpha val="12000"/>
              </a:srgbClr>
            </a:outerShdw>
          </a:effectLst>
        </p:spPr>
      </p:sp>
      <p:sp>
        <p:nvSpPr>
          <p:cNvPr id="5" name="Shape 3"/>
          <p:cNvSpPr/>
          <p:nvPr/>
        </p:nvSpPr>
        <p:spPr>
          <a:xfrm>
            <a:off x="1421892" y="1801368"/>
            <a:ext cx="585216" cy="585216"/>
          </a:xfrm>
          <a:prstGeom prst="ellipse">
            <a:avLst/>
          </a:prstGeom>
          <a:solidFill>
            <a:srgbClr val="2F3C7E"/>
          </a:solidFill>
          <a:ln/>
        </p:spPr>
      </p:sp>
      <p:pic>
        <p:nvPicPr>
          <p:cNvPr id="6" name="Image 0" descr="images/icon_graph.png">    </p:cNvPr>
          <p:cNvPicPr>
            <a:picLocks noChangeAspect="1"/>
          </p:cNvPicPr>
          <p:nvPr/>
        </p:nvPicPr>
        <p:blipFill>
          <a:blip r:embed="rId1"/>
          <a:stretch>
            <a:fillRect/>
          </a:stretch>
        </p:blipFill>
        <p:spPr>
          <a:xfrm>
            <a:off x="1574048" y="1953524"/>
            <a:ext cx="280904" cy="280904"/>
          </a:xfrm>
          <a:prstGeom prst="rect">
            <a:avLst/>
          </a:prstGeom>
        </p:spPr>
      </p:pic>
      <p:sp>
        <p:nvSpPr>
          <p:cNvPr id="7" name="Text 4"/>
          <p:cNvSpPr/>
          <p:nvPr/>
        </p:nvSpPr>
        <p:spPr>
          <a:xfrm>
            <a:off x="658368" y="2514600"/>
            <a:ext cx="2112264" cy="310896"/>
          </a:xfrm>
          <a:prstGeom prst="rect">
            <a:avLst/>
          </a:prstGeom>
          <a:noFill/>
          <a:ln/>
        </p:spPr>
        <p:txBody>
          <a:bodyPr wrap="square" lIns="0" tIns="0" rIns="0" bIns="0" rtlCol="0" anchor="ctr"/>
          <a:lstStyle/>
          <a:p>
            <a:pPr algn="ctr" indent="0" marL="0">
              <a:buNone/>
            </a:pPr>
            <a:r>
              <a:rPr lang="en-US" sz="1450" b="1" dirty="0">
                <a:solidFill>
                  <a:srgbClr val="2F3C7E"/>
                </a:solidFill>
                <a:latin typeface="Cambria" pitchFamily="34" charset="0"/>
                <a:ea typeface="Cambria" pitchFamily="34" charset="-122"/>
                <a:cs typeface="Cambria" pitchFamily="34" charset="-120"/>
              </a:rPr>
              <a:t>Input</a:t>
            </a:r>
            <a:endParaRPr lang="en-US" sz="1450" dirty="0"/>
          </a:p>
        </p:txBody>
      </p:sp>
      <p:sp>
        <p:nvSpPr>
          <p:cNvPr id="8" name="Text 5"/>
          <p:cNvSpPr/>
          <p:nvPr/>
        </p:nvSpPr>
        <p:spPr>
          <a:xfrm>
            <a:off x="658368" y="2834640"/>
            <a:ext cx="2112264" cy="502920"/>
          </a:xfrm>
          <a:prstGeom prst="rect">
            <a:avLst/>
          </a:prstGeom>
          <a:noFill/>
          <a:ln/>
        </p:spPr>
        <p:txBody>
          <a:bodyPr wrap="square" lIns="0" tIns="0" rIns="0" bIns="0" rtlCol="0" anchor="t"/>
          <a:lstStyle/>
          <a:p>
            <a:pPr algn="ctr" indent="0" marL="0">
              <a:lnSpc>
                <a:spcPct val="100000"/>
              </a:lnSpc>
              <a:buNone/>
            </a:pPr>
            <a:r>
              <a:rPr lang="en-US" sz="1100" dirty="0">
                <a:solidFill>
                  <a:srgbClr val="262220"/>
                </a:solidFill>
                <a:latin typeface="Calibri" pitchFamily="34" charset="0"/>
                <a:ea typeface="Calibri" pitchFamily="34" charset="-122"/>
                <a:cs typeface="Calibri" pitchFamily="34" charset="-120"/>
              </a:rPr>
              <a:t>Map Graph</a:t>
            </a:r>
            <a:endParaRPr lang="en-US" sz="1100" dirty="0"/>
          </a:p>
        </p:txBody>
      </p:sp>
      <p:sp>
        <p:nvSpPr>
          <p:cNvPr id="9" name="Text 6"/>
          <p:cNvSpPr/>
          <p:nvPr/>
        </p:nvSpPr>
        <p:spPr>
          <a:xfrm>
            <a:off x="2900172" y="2263140"/>
            <a:ext cx="548640" cy="457200"/>
          </a:xfrm>
          <a:prstGeom prst="rect">
            <a:avLst/>
          </a:prstGeom>
          <a:noFill/>
          <a:ln/>
        </p:spPr>
        <p:txBody>
          <a:bodyPr wrap="square" lIns="0" tIns="0" rIns="0" bIns="0" rtlCol="0" anchor="ctr"/>
          <a:lstStyle/>
          <a:p>
            <a:pPr algn="ctr" indent="0" marL="0">
              <a:buNone/>
            </a:pPr>
            <a:r>
              <a:rPr lang="en-US" sz="2600" b="1" dirty="0">
                <a:solidFill>
                  <a:srgbClr val="6B6360"/>
                </a:solidFill>
              </a:rPr>
              <a:t>→</a:t>
            </a:r>
            <a:endParaRPr lang="en-US" sz="2600" dirty="0"/>
          </a:p>
        </p:txBody>
      </p:sp>
      <p:sp>
        <p:nvSpPr>
          <p:cNvPr id="10" name="Shape 7"/>
          <p:cNvSpPr/>
          <p:nvPr/>
        </p:nvSpPr>
        <p:spPr>
          <a:xfrm>
            <a:off x="3468624" y="1600200"/>
            <a:ext cx="2331720" cy="1783080"/>
          </a:xfrm>
          <a:prstGeom prst="roundRect">
            <a:avLst>
              <a:gd name="adj" fmla="val 4615"/>
            </a:avLst>
          </a:prstGeom>
          <a:solidFill>
            <a:srgbClr val="FFFFFF"/>
          </a:solidFill>
          <a:ln/>
          <a:effectLst>
            <a:outerShdw sx="100000" sy="100000" kx="0" ky="0" algn="bl" rotWithShape="0" blurRad="101600" dist="38100" dir="5400000">
              <a:srgbClr val="1A1A1A">
                <a:alpha val="12000"/>
              </a:srgbClr>
            </a:outerShdw>
          </a:effectLst>
        </p:spPr>
      </p:sp>
      <p:sp>
        <p:nvSpPr>
          <p:cNvPr id="11" name="Shape 8"/>
          <p:cNvSpPr/>
          <p:nvPr/>
        </p:nvSpPr>
        <p:spPr>
          <a:xfrm>
            <a:off x="4341876" y="1801368"/>
            <a:ext cx="585216" cy="585216"/>
          </a:xfrm>
          <a:prstGeom prst="ellipse">
            <a:avLst/>
          </a:prstGeom>
          <a:solidFill>
            <a:srgbClr val="990011"/>
          </a:solidFill>
          <a:ln/>
        </p:spPr>
      </p:sp>
      <p:pic>
        <p:nvPicPr>
          <p:cNvPr id="12" name="Image 1" descr="images/icon_search.png">    </p:cNvPr>
          <p:cNvPicPr>
            <a:picLocks noChangeAspect="1"/>
          </p:cNvPicPr>
          <p:nvPr/>
        </p:nvPicPr>
        <p:blipFill>
          <a:blip r:embed="rId2"/>
          <a:stretch>
            <a:fillRect/>
          </a:stretch>
        </p:blipFill>
        <p:spPr>
          <a:xfrm>
            <a:off x="4494032" y="1953524"/>
            <a:ext cx="280904" cy="280904"/>
          </a:xfrm>
          <a:prstGeom prst="rect">
            <a:avLst/>
          </a:prstGeom>
        </p:spPr>
      </p:pic>
      <p:sp>
        <p:nvSpPr>
          <p:cNvPr id="13" name="Text 9"/>
          <p:cNvSpPr/>
          <p:nvPr/>
        </p:nvSpPr>
        <p:spPr>
          <a:xfrm>
            <a:off x="3578352" y="2514600"/>
            <a:ext cx="2112264" cy="310896"/>
          </a:xfrm>
          <a:prstGeom prst="rect">
            <a:avLst/>
          </a:prstGeom>
          <a:noFill/>
          <a:ln/>
        </p:spPr>
        <p:txBody>
          <a:bodyPr wrap="square" lIns="0" tIns="0" rIns="0" bIns="0" rtlCol="0" anchor="ctr"/>
          <a:lstStyle/>
          <a:p>
            <a:pPr algn="ctr" indent="0" marL="0">
              <a:buNone/>
            </a:pPr>
            <a:r>
              <a:rPr lang="en-US" sz="1450" b="1" dirty="0">
                <a:solidFill>
                  <a:srgbClr val="990011"/>
                </a:solidFill>
                <a:latin typeface="Cambria" pitchFamily="34" charset="0"/>
                <a:ea typeface="Cambria" pitchFamily="34" charset="-122"/>
                <a:cs typeface="Cambria" pitchFamily="34" charset="-120"/>
              </a:rPr>
              <a:t>Search + CSP</a:t>
            </a:r>
            <a:endParaRPr lang="en-US" sz="1450" dirty="0"/>
          </a:p>
        </p:txBody>
      </p:sp>
      <p:sp>
        <p:nvSpPr>
          <p:cNvPr id="14" name="Text 10"/>
          <p:cNvSpPr/>
          <p:nvPr/>
        </p:nvSpPr>
        <p:spPr>
          <a:xfrm>
            <a:off x="3578352" y="2834640"/>
            <a:ext cx="2112264" cy="502920"/>
          </a:xfrm>
          <a:prstGeom prst="rect">
            <a:avLst/>
          </a:prstGeom>
          <a:noFill/>
          <a:ln/>
        </p:spPr>
        <p:txBody>
          <a:bodyPr wrap="square" lIns="0" tIns="0" rIns="0" bIns="0" rtlCol="0" anchor="t"/>
          <a:lstStyle/>
          <a:p>
            <a:pPr algn="ctr" indent="0" marL="0">
              <a:lnSpc>
                <a:spcPct val="100000"/>
              </a:lnSpc>
              <a:buNone/>
            </a:pPr>
            <a:r>
              <a:rPr lang="en-US" sz="1100" dirty="0">
                <a:solidFill>
                  <a:srgbClr val="262220"/>
                </a:solidFill>
                <a:latin typeface="Calibri" pitchFamily="34" charset="0"/>
                <a:ea typeface="Calibri" pitchFamily="34" charset="-122"/>
                <a:cs typeface="Calibri" pitchFamily="34" charset="-120"/>
              </a:rPr>
              <a:t>BFS / UCS / A* filtered by CSP</a:t>
            </a:r>
            <a:endParaRPr lang="en-US" sz="1100" dirty="0"/>
          </a:p>
        </p:txBody>
      </p:sp>
      <p:sp>
        <p:nvSpPr>
          <p:cNvPr id="15" name="Text 11"/>
          <p:cNvSpPr/>
          <p:nvPr/>
        </p:nvSpPr>
        <p:spPr>
          <a:xfrm>
            <a:off x="5820156" y="2263140"/>
            <a:ext cx="548640" cy="457200"/>
          </a:xfrm>
          <a:prstGeom prst="rect">
            <a:avLst/>
          </a:prstGeom>
          <a:noFill/>
          <a:ln/>
        </p:spPr>
        <p:txBody>
          <a:bodyPr wrap="square" lIns="0" tIns="0" rIns="0" bIns="0" rtlCol="0" anchor="ctr"/>
          <a:lstStyle/>
          <a:p>
            <a:pPr algn="ctr" indent="0" marL="0">
              <a:buNone/>
            </a:pPr>
            <a:r>
              <a:rPr lang="en-US" sz="2600" b="1" dirty="0">
                <a:solidFill>
                  <a:srgbClr val="6B6360"/>
                </a:solidFill>
              </a:rPr>
              <a:t>→</a:t>
            </a:r>
            <a:endParaRPr lang="en-US" sz="2600" dirty="0"/>
          </a:p>
        </p:txBody>
      </p:sp>
      <p:sp>
        <p:nvSpPr>
          <p:cNvPr id="16" name="Shape 12"/>
          <p:cNvSpPr/>
          <p:nvPr/>
        </p:nvSpPr>
        <p:spPr>
          <a:xfrm>
            <a:off x="6388608" y="1600200"/>
            <a:ext cx="2331720" cy="1783080"/>
          </a:xfrm>
          <a:prstGeom prst="roundRect">
            <a:avLst>
              <a:gd name="adj" fmla="val 4615"/>
            </a:avLst>
          </a:prstGeom>
          <a:solidFill>
            <a:srgbClr val="FFFFFF"/>
          </a:solidFill>
          <a:ln/>
          <a:effectLst>
            <a:outerShdw sx="100000" sy="100000" kx="0" ky="0" algn="bl" rotWithShape="0" blurRad="101600" dist="38100" dir="5400000">
              <a:srgbClr val="1A1A1A">
                <a:alpha val="12000"/>
              </a:srgbClr>
            </a:outerShdw>
          </a:effectLst>
        </p:spPr>
      </p:sp>
      <p:sp>
        <p:nvSpPr>
          <p:cNvPr id="17" name="Shape 13"/>
          <p:cNvSpPr/>
          <p:nvPr/>
        </p:nvSpPr>
        <p:spPr>
          <a:xfrm>
            <a:off x="7261860" y="1801368"/>
            <a:ext cx="585216" cy="585216"/>
          </a:xfrm>
          <a:prstGeom prst="ellipse">
            <a:avLst/>
          </a:prstGeom>
          <a:solidFill>
            <a:srgbClr val="1E7B4D"/>
          </a:solidFill>
          <a:ln/>
        </p:spPr>
      </p:sp>
      <p:pic>
        <p:nvPicPr>
          <p:cNvPr id="18" name="Image 2" descr="images/icon_chess.png">    </p:cNvPr>
          <p:cNvPicPr>
            <a:picLocks noChangeAspect="1"/>
          </p:cNvPicPr>
          <p:nvPr/>
        </p:nvPicPr>
        <p:blipFill>
          <a:blip r:embed="rId3"/>
          <a:stretch>
            <a:fillRect/>
          </a:stretch>
        </p:blipFill>
        <p:spPr>
          <a:xfrm>
            <a:off x="7414016" y="1953524"/>
            <a:ext cx="280904" cy="280904"/>
          </a:xfrm>
          <a:prstGeom prst="rect">
            <a:avLst/>
          </a:prstGeom>
        </p:spPr>
      </p:pic>
      <p:sp>
        <p:nvSpPr>
          <p:cNvPr id="19" name="Text 14"/>
          <p:cNvSpPr/>
          <p:nvPr/>
        </p:nvSpPr>
        <p:spPr>
          <a:xfrm>
            <a:off x="6498336" y="2514600"/>
            <a:ext cx="2112264" cy="310896"/>
          </a:xfrm>
          <a:prstGeom prst="rect">
            <a:avLst/>
          </a:prstGeom>
          <a:noFill/>
          <a:ln/>
        </p:spPr>
        <p:txBody>
          <a:bodyPr wrap="square" lIns="0" tIns="0" rIns="0" bIns="0" rtlCol="0" anchor="ctr"/>
          <a:lstStyle/>
          <a:p>
            <a:pPr algn="ctr" indent="0" marL="0">
              <a:buNone/>
            </a:pPr>
            <a:r>
              <a:rPr lang="en-US" sz="1450" b="1" dirty="0">
                <a:solidFill>
                  <a:srgbClr val="1E7B4D"/>
                </a:solidFill>
                <a:latin typeface="Cambria" pitchFamily="34" charset="0"/>
                <a:ea typeface="Cambria" pitchFamily="34" charset="-122"/>
                <a:cs typeface="Cambria" pitchFamily="34" charset="-120"/>
              </a:rPr>
              <a:t>Decision</a:t>
            </a:r>
            <a:endParaRPr lang="en-US" sz="1450" dirty="0"/>
          </a:p>
        </p:txBody>
      </p:sp>
      <p:sp>
        <p:nvSpPr>
          <p:cNvPr id="20" name="Text 15"/>
          <p:cNvSpPr/>
          <p:nvPr/>
        </p:nvSpPr>
        <p:spPr>
          <a:xfrm>
            <a:off x="6498336" y="2834640"/>
            <a:ext cx="2112264" cy="502920"/>
          </a:xfrm>
          <a:prstGeom prst="rect">
            <a:avLst/>
          </a:prstGeom>
          <a:noFill/>
          <a:ln/>
        </p:spPr>
        <p:txBody>
          <a:bodyPr wrap="square" lIns="0" tIns="0" rIns="0" bIns="0" rtlCol="0" anchor="t"/>
          <a:lstStyle/>
          <a:p>
            <a:pPr algn="ctr" indent="0" marL="0">
              <a:lnSpc>
                <a:spcPct val="100000"/>
              </a:lnSpc>
              <a:buNone/>
            </a:pPr>
            <a:r>
              <a:rPr lang="en-US" sz="1100" dirty="0">
                <a:solidFill>
                  <a:srgbClr val="262220"/>
                </a:solidFill>
                <a:latin typeface="Calibri" pitchFamily="34" charset="0"/>
                <a:ea typeface="Calibri" pitchFamily="34" charset="-122"/>
                <a:cs typeface="Calibri" pitchFamily="34" charset="-120"/>
              </a:rPr>
              <a:t>Minimax + Alpha-Beta</a:t>
            </a:r>
            <a:endParaRPr lang="en-US" sz="1100" dirty="0"/>
          </a:p>
        </p:txBody>
      </p:sp>
      <p:sp>
        <p:nvSpPr>
          <p:cNvPr id="21" name="Text 16"/>
          <p:cNvSpPr/>
          <p:nvPr/>
        </p:nvSpPr>
        <p:spPr>
          <a:xfrm>
            <a:off x="8740140" y="2263140"/>
            <a:ext cx="548640" cy="457200"/>
          </a:xfrm>
          <a:prstGeom prst="rect">
            <a:avLst/>
          </a:prstGeom>
          <a:noFill/>
          <a:ln/>
        </p:spPr>
        <p:txBody>
          <a:bodyPr wrap="square" lIns="0" tIns="0" rIns="0" bIns="0" rtlCol="0" anchor="ctr"/>
          <a:lstStyle/>
          <a:p>
            <a:pPr algn="ctr" indent="0" marL="0">
              <a:buNone/>
            </a:pPr>
            <a:r>
              <a:rPr lang="en-US" sz="2600" b="1" dirty="0">
                <a:solidFill>
                  <a:srgbClr val="6B6360"/>
                </a:solidFill>
              </a:rPr>
              <a:t>→</a:t>
            </a:r>
            <a:endParaRPr lang="en-US" sz="2600" dirty="0"/>
          </a:p>
        </p:txBody>
      </p:sp>
      <p:sp>
        <p:nvSpPr>
          <p:cNvPr id="22" name="Shape 17"/>
          <p:cNvSpPr/>
          <p:nvPr/>
        </p:nvSpPr>
        <p:spPr>
          <a:xfrm>
            <a:off x="9308592" y="1600200"/>
            <a:ext cx="2331720" cy="1783080"/>
          </a:xfrm>
          <a:prstGeom prst="roundRect">
            <a:avLst>
              <a:gd name="adj" fmla="val 4615"/>
            </a:avLst>
          </a:prstGeom>
          <a:solidFill>
            <a:srgbClr val="FFFFFF"/>
          </a:solidFill>
          <a:ln/>
          <a:effectLst>
            <a:outerShdw sx="100000" sy="100000" kx="0" ky="0" algn="bl" rotWithShape="0" blurRad="101600" dist="38100" dir="5400000">
              <a:srgbClr val="1A1A1A">
                <a:alpha val="12000"/>
              </a:srgbClr>
            </a:outerShdw>
          </a:effectLst>
        </p:spPr>
      </p:sp>
      <p:sp>
        <p:nvSpPr>
          <p:cNvPr id="23" name="Shape 18"/>
          <p:cNvSpPr/>
          <p:nvPr/>
        </p:nvSpPr>
        <p:spPr>
          <a:xfrm>
            <a:off x="10181844" y="1801368"/>
            <a:ext cx="585216" cy="585216"/>
          </a:xfrm>
          <a:prstGeom prst="ellipse">
            <a:avLst/>
          </a:prstGeom>
          <a:solidFill>
            <a:srgbClr val="2F3C7E"/>
          </a:solidFill>
          <a:ln/>
        </p:spPr>
      </p:sp>
      <p:pic>
        <p:nvPicPr>
          <p:cNvPr id="24" name="Image 3" descr="images/icon_door.png">    </p:cNvPr>
          <p:cNvPicPr>
            <a:picLocks noChangeAspect="1"/>
          </p:cNvPicPr>
          <p:nvPr/>
        </p:nvPicPr>
        <p:blipFill>
          <a:blip r:embed="rId4"/>
          <a:stretch>
            <a:fillRect/>
          </a:stretch>
        </p:blipFill>
        <p:spPr>
          <a:xfrm>
            <a:off x="10334000" y="1953524"/>
            <a:ext cx="280904" cy="280904"/>
          </a:xfrm>
          <a:prstGeom prst="rect">
            <a:avLst/>
          </a:prstGeom>
        </p:spPr>
      </p:pic>
      <p:sp>
        <p:nvSpPr>
          <p:cNvPr id="25" name="Text 19"/>
          <p:cNvSpPr/>
          <p:nvPr/>
        </p:nvSpPr>
        <p:spPr>
          <a:xfrm>
            <a:off x="9418320" y="2514600"/>
            <a:ext cx="2112264" cy="310896"/>
          </a:xfrm>
          <a:prstGeom prst="rect">
            <a:avLst/>
          </a:prstGeom>
          <a:noFill/>
          <a:ln/>
        </p:spPr>
        <p:txBody>
          <a:bodyPr wrap="square" lIns="0" tIns="0" rIns="0" bIns="0" rtlCol="0" anchor="ctr"/>
          <a:lstStyle/>
          <a:p>
            <a:pPr algn="ctr" indent="0" marL="0">
              <a:buNone/>
            </a:pPr>
            <a:r>
              <a:rPr lang="en-US" sz="1450" b="1" dirty="0">
                <a:solidFill>
                  <a:srgbClr val="2F3C7E"/>
                </a:solidFill>
                <a:latin typeface="Cambria" pitchFamily="34" charset="0"/>
                <a:ea typeface="Cambria" pitchFamily="34" charset="-122"/>
                <a:cs typeface="Cambria" pitchFamily="34" charset="-120"/>
              </a:rPr>
              <a:t>Output</a:t>
            </a:r>
            <a:endParaRPr lang="en-US" sz="1450" dirty="0"/>
          </a:p>
        </p:txBody>
      </p:sp>
      <p:sp>
        <p:nvSpPr>
          <p:cNvPr id="26" name="Text 20"/>
          <p:cNvSpPr/>
          <p:nvPr/>
        </p:nvSpPr>
        <p:spPr>
          <a:xfrm>
            <a:off x="9418320" y="2834640"/>
            <a:ext cx="2112264" cy="502920"/>
          </a:xfrm>
          <a:prstGeom prst="rect">
            <a:avLst/>
          </a:prstGeom>
          <a:noFill/>
          <a:ln/>
        </p:spPr>
        <p:txBody>
          <a:bodyPr wrap="square" lIns="0" tIns="0" rIns="0" bIns="0" rtlCol="0" anchor="t"/>
          <a:lstStyle/>
          <a:p>
            <a:pPr algn="ctr" indent="0" marL="0">
              <a:lnSpc>
                <a:spcPct val="100000"/>
              </a:lnSpc>
              <a:buNone/>
            </a:pPr>
            <a:r>
              <a:rPr lang="en-US" sz="1100" dirty="0">
                <a:solidFill>
                  <a:srgbClr val="262220"/>
                </a:solidFill>
                <a:latin typeface="Calibri" pitchFamily="34" charset="0"/>
                <a:ea typeface="Calibri" pitchFamily="34" charset="-122"/>
                <a:cs typeface="Calibri" pitchFamily="34" charset="-120"/>
              </a:rPr>
              <a:t>Safest Route Displayed</a:t>
            </a:r>
            <a:endParaRPr lang="en-US" sz="1100" dirty="0"/>
          </a:p>
        </p:txBody>
      </p:sp>
      <p:sp>
        <p:nvSpPr>
          <p:cNvPr id="27" name="Shape 21"/>
          <p:cNvSpPr/>
          <p:nvPr/>
        </p:nvSpPr>
        <p:spPr>
          <a:xfrm>
            <a:off x="548640" y="3703320"/>
            <a:ext cx="6400800" cy="2194560"/>
          </a:xfrm>
          <a:prstGeom prst="roundRect">
            <a:avLst>
              <a:gd name="adj" fmla="val 3750"/>
            </a:avLst>
          </a:prstGeom>
          <a:solidFill>
            <a:srgbClr val="2F3C7E"/>
          </a:solidFill>
          <a:ln/>
          <a:effectLst>
            <a:outerShdw sx="100000" sy="100000" kx="0" ky="0" algn="bl" rotWithShape="0" blurRad="101600" dist="38100" dir="5400000">
              <a:srgbClr val="1A1A1A">
                <a:alpha val="12000"/>
              </a:srgbClr>
            </a:outerShdw>
          </a:effectLst>
        </p:spPr>
      </p:sp>
      <p:sp>
        <p:nvSpPr>
          <p:cNvPr id="28" name="Text 22"/>
          <p:cNvSpPr/>
          <p:nvPr/>
        </p:nvSpPr>
        <p:spPr>
          <a:xfrm>
            <a:off x="868680" y="3931920"/>
            <a:ext cx="5760720" cy="32004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Example Trace</a:t>
            </a:r>
            <a:endParaRPr lang="en-US" sz="1400" dirty="0"/>
          </a:p>
        </p:txBody>
      </p:sp>
      <p:sp>
        <p:nvSpPr>
          <p:cNvPr id="29" name="Text 23"/>
          <p:cNvSpPr/>
          <p:nvPr/>
        </p:nvSpPr>
        <p:spPr>
          <a:xfrm>
            <a:off x="868680" y="4315968"/>
            <a:ext cx="5760720" cy="457200"/>
          </a:xfrm>
          <a:prstGeom prst="rect">
            <a:avLst/>
          </a:prstGeom>
          <a:noFill/>
          <a:ln/>
        </p:spPr>
        <p:txBody>
          <a:bodyPr wrap="square" lIns="0" tIns="0" rIns="0" bIns="0" rtlCol="0" anchor="ctr"/>
          <a:lstStyle/>
          <a:p>
            <a:pPr indent="0" marL="0">
              <a:buNone/>
            </a:pPr>
            <a:r>
              <a:rPr lang="en-US" sz="1700" b="1" dirty="0">
                <a:solidFill>
                  <a:srgbClr val="FFD9DC"/>
                </a:solidFill>
                <a:latin typeface="Cambria" pitchFamily="34" charset="0"/>
                <a:ea typeface="Cambria" pitchFamily="34" charset="-122"/>
                <a:cs typeface="Cambria" pitchFamily="34" charset="-120"/>
              </a:rPr>
              <a:t>Room 101  →  Corridor  →  Exit Gate A</a:t>
            </a:r>
            <a:endParaRPr lang="en-US" sz="1700" dirty="0"/>
          </a:p>
        </p:txBody>
      </p:sp>
      <p:sp>
        <p:nvSpPr>
          <p:cNvPr id="30" name="Shape 24"/>
          <p:cNvSpPr/>
          <p:nvPr/>
        </p:nvSpPr>
        <p:spPr>
          <a:xfrm>
            <a:off x="868680" y="4937760"/>
            <a:ext cx="457200" cy="457200"/>
          </a:xfrm>
          <a:prstGeom prst="ellipse">
            <a:avLst/>
          </a:prstGeom>
          <a:solidFill>
            <a:srgbClr val="990011"/>
          </a:solidFill>
          <a:ln/>
        </p:spPr>
      </p:sp>
      <p:pic>
        <p:nvPicPr>
          <p:cNvPr id="31" name="Image 4" descr="images/icon_route.png">    </p:cNvPr>
          <p:cNvPicPr>
            <a:picLocks noChangeAspect="1"/>
          </p:cNvPicPr>
          <p:nvPr/>
        </p:nvPicPr>
        <p:blipFill>
          <a:blip r:embed="rId5"/>
          <a:stretch>
            <a:fillRect/>
          </a:stretch>
        </p:blipFill>
        <p:spPr>
          <a:xfrm>
            <a:off x="987552" y="5056632"/>
            <a:ext cx="219456" cy="219456"/>
          </a:xfrm>
          <a:prstGeom prst="rect">
            <a:avLst/>
          </a:prstGeom>
        </p:spPr>
      </p:pic>
      <p:sp>
        <p:nvSpPr>
          <p:cNvPr id="32" name="Text 25"/>
          <p:cNvSpPr/>
          <p:nvPr/>
        </p:nvSpPr>
        <p:spPr>
          <a:xfrm>
            <a:off x="1463040" y="4956048"/>
            <a:ext cx="5120640" cy="420624"/>
          </a:xfrm>
          <a:prstGeom prst="rect">
            <a:avLst/>
          </a:prstGeom>
          <a:noFill/>
          <a:ln/>
        </p:spPr>
        <p:txBody>
          <a:bodyPr wrap="square" lIns="0" tIns="0" rIns="0" bIns="0" rtlCol="0" anchor="ctr"/>
          <a:lstStyle/>
          <a:p>
            <a:pPr indent="0" marL="0">
              <a:buNone/>
            </a:pPr>
            <a:r>
              <a:rPr lang="en-US" sz="1300" i="1" dirty="0">
                <a:solidFill>
                  <a:srgbClr val="EFE9F5"/>
                </a:solidFill>
                <a:latin typeface="Calibri" pitchFamily="34" charset="0"/>
                <a:ea typeface="Calibri" pitchFamily="34" charset="-122"/>
                <a:cs typeface="Calibri" pitchFamily="34" charset="-120"/>
              </a:rPr>
              <a:t>Estimated evacuation time: 2 minutes</a:t>
            </a:r>
            <a:endParaRPr lang="en-US" sz="1300" dirty="0"/>
          </a:p>
        </p:txBody>
      </p:sp>
      <p:sp>
        <p:nvSpPr>
          <p:cNvPr id="33" name="Shape 26"/>
          <p:cNvSpPr/>
          <p:nvPr/>
        </p:nvSpPr>
        <p:spPr>
          <a:xfrm>
            <a:off x="7159752" y="3703320"/>
            <a:ext cx="4480560" cy="2194560"/>
          </a:xfrm>
          <a:prstGeom prst="roundRect">
            <a:avLst>
              <a:gd name="adj" fmla="val 3750"/>
            </a:avLst>
          </a:prstGeom>
          <a:solidFill>
            <a:srgbClr val="FFFFFF"/>
          </a:solidFill>
          <a:ln/>
          <a:effectLst>
            <a:outerShdw sx="100000" sy="100000" kx="0" ky="0" algn="bl" rotWithShape="0" blurRad="101600" dist="38100" dir="5400000">
              <a:srgbClr val="1A1A1A">
                <a:alpha val="12000"/>
              </a:srgbClr>
            </a:outerShdw>
          </a:effectLst>
        </p:spPr>
      </p:sp>
      <p:sp>
        <p:nvSpPr>
          <p:cNvPr id="34" name="Text 27"/>
          <p:cNvSpPr/>
          <p:nvPr/>
        </p:nvSpPr>
        <p:spPr>
          <a:xfrm>
            <a:off x="7452360" y="3931920"/>
            <a:ext cx="3931920" cy="320040"/>
          </a:xfrm>
          <a:prstGeom prst="rect">
            <a:avLst/>
          </a:prstGeom>
          <a:noFill/>
          <a:ln/>
        </p:spPr>
        <p:txBody>
          <a:bodyPr wrap="square" lIns="0" tIns="0" rIns="0" bIns="0" rtlCol="0" anchor="ctr"/>
          <a:lstStyle/>
          <a:p>
            <a:pPr indent="0" marL="0">
              <a:buNone/>
            </a:pPr>
            <a:r>
              <a:rPr lang="en-US" sz="1400" b="1" dirty="0">
                <a:solidFill>
                  <a:srgbClr val="2F3C7E"/>
                </a:solidFill>
                <a:latin typeface="Cambria" pitchFamily="34" charset="0"/>
                <a:ea typeface="Cambria" pitchFamily="34" charset="-122"/>
                <a:cs typeface="Cambria" pitchFamily="34" charset="-120"/>
              </a:rPr>
              <a:t>Implementation Stack</a:t>
            </a:r>
            <a:endParaRPr lang="en-US" sz="1400" dirty="0"/>
          </a:p>
        </p:txBody>
      </p:sp>
      <p:sp>
        <p:nvSpPr>
          <p:cNvPr id="35" name="Shape 28"/>
          <p:cNvSpPr/>
          <p:nvPr/>
        </p:nvSpPr>
        <p:spPr>
          <a:xfrm>
            <a:off x="7452360" y="4370832"/>
            <a:ext cx="457200" cy="457200"/>
          </a:xfrm>
          <a:prstGeom prst="ellipse">
            <a:avLst/>
          </a:prstGeom>
          <a:solidFill>
            <a:srgbClr val="2F3C7E"/>
          </a:solidFill>
          <a:ln/>
        </p:spPr>
      </p:sp>
      <p:pic>
        <p:nvPicPr>
          <p:cNvPr id="36" name="Image 5" descr="images/icon_laptop.png">    </p:cNvPr>
          <p:cNvPicPr>
            <a:picLocks noChangeAspect="1"/>
          </p:cNvPicPr>
          <p:nvPr/>
        </p:nvPicPr>
        <p:blipFill>
          <a:blip r:embed="rId6"/>
          <a:stretch>
            <a:fillRect/>
          </a:stretch>
        </p:blipFill>
        <p:spPr>
          <a:xfrm>
            <a:off x="7571232" y="4489704"/>
            <a:ext cx="219456" cy="219456"/>
          </a:xfrm>
          <a:prstGeom prst="rect">
            <a:avLst/>
          </a:prstGeom>
        </p:spPr>
      </p:pic>
      <p:sp>
        <p:nvSpPr>
          <p:cNvPr id="37" name="Text 29"/>
          <p:cNvSpPr/>
          <p:nvPr/>
        </p:nvSpPr>
        <p:spPr>
          <a:xfrm>
            <a:off x="8028432" y="4389120"/>
            <a:ext cx="3474720" cy="420624"/>
          </a:xfrm>
          <a:prstGeom prst="rect">
            <a:avLst/>
          </a:prstGeom>
          <a:noFill/>
          <a:ln/>
        </p:spPr>
        <p:txBody>
          <a:bodyPr wrap="square" lIns="0" tIns="0" rIns="0" bIns="0" rtlCol="0" anchor="ctr"/>
          <a:lstStyle/>
          <a:p>
            <a:pPr indent="0" marL="0">
              <a:buNone/>
            </a:pPr>
            <a:r>
              <a:rPr lang="en-US" sz="1250" dirty="0">
                <a:solidFill>
                  <a:srgbClr val="262220"/>
                </a:solidFill>
                <a:latin typeface="Calibri" pitchFamily="34" charset="0"/>
                <a:ea typeface="Calibri" pitchFamily="34" charset="-122"/>
                <a:cs typeface="Calibri" pitchFamily="34" charset="-120"/>
              </a:rPr>
              <a:t>PyCharm (development IDE)</a:t>
            </a:r>
            <a:endParaRPr lang="en-US" sz="1250" dirty="0"/>
          </a:p>
        </p:txBody>
      </p:sp>
      <p:sp>
        <p:nvSpPr>
          <p:cNvPr id="38" name="Shape 30"/>
          <p:cNvSpPr/>
          <p:nvPr/>
        </p:nvSpPr>
        <p:spPr>
          <a:xfrm>
            <a:off x="7452360" y="4864608"/>
            <a:ext cx="457200" cy="457200"/>
          </a:xfrm>
          <a:prstGeom prst="ellipse">
            <a:avLst/>
          </a:prstGeom>
          <a:solidFill>
            <a:srgbClr val="990011"/>
          </a:solidFill>
          <a:ln/>
        </p:spPr>
      </p:sp>
      <p:pic>
        <p:nvPicPr>
          <p:cNvPr id="39" name="Image 6" descr="images/icon_server.png">    </p:cNvPr>
          <p:cNvPicPr>
            <a:picLocks noChangeAspect="1"/>
          </p:cNvPicPr>
          <p:nvPr/>
        </p:nvPicPr>
        <p:blipFill>
          <a:blip r:embed="rId7"/>
          <a:stretch>
            <a:fillRect/>
          </a:stretch>
        </p:blipFill>
        <p:spPr>
          <a:xfrm>
            <a:off x="7571232" y="4983480"/>
            <a:ext cx="219456" cy="219456"/>
          </a:xfrm>
          <a:prstGeom prst="rect">
            <a:avLst/>
          </a:prstGeom>
        </p:spPr>
      </p:pic>
      <p:sp>
        <p:nvSpPr>
          <p:cNvPr id="40" name="Text 31"/>
          <p:cNvSpPr/>
          <p:nvPr/>
        </p:nvSpPr>
        <p:spPr>
          <a:xfrm>
            <a:off x="8028432" y="4882896"/>
            <a:ext cx="3474720" cy="420624"/>
          </a:xfrm>
          <a:prstGeom prst="rect">
            <a:avLst/>
          </a:prstGeom>
          <a:noFill/>
          <a:ln/>
        </p:spPr>
        <p:txBody>
          <a:bodyPr wrap="square" lIns="0" tIns="0" rIns="0" bIns="0" rtlCol="0" anchor="ctr"/>
          <a:lstStyle/>
          <a:p>
            <a:pPr indent="0" marL="0">
              <a:buNone/>
            </a:pPr>
            <a:r>
              <a:rPr lang="en-US" sz="1250" dirty="0">
                <a:solidFill>
                  <a:srgbClr val="262220"/>
                </a:solidFill>
                <a:latin typeface="Calibri" pitchFamily="34" charset="0"/>
                <a:ea typeface="Calibri" pitchFamily="34" charset="-122"/>
                <a:cs typeface="Calibri" pitchFamily="34" charset="-120"/>
              </a:rPr>
              <a:t>Flask (web-server interface)</a:t>
            </a:r>
            <a:endParaRPr lang="en-US" sz="1250" dirty="0"/>
          </a:p>
        </p:txBody>
      </p:sp>
      <p:sp>
        <p:nvSpPr>
          <p:cNvPr id="41" name="Text 32"/>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50" dirty="0">
                <a:solidFill>
                  <a:srgbClr val="6B6360"/>
                </a:solidFill>
                <a:latin typeface="Calibri" pitchFamily="34" charset="0"/>
                <a:ea typeface="Calibri" pitchFamily="34" charset="-122"/>
                <a:cs typeface="Calibri" pitchFamily="34" charset="-120"/>
              </a:rPr>
              <a:t>Emergency Evacuation Path Planner</a:t>
            </a:r>
            <a:endParaRPr lang="en-US" sz="950" dirty="0"/>
          </a:p>
        </p:txBody>
      </p:sp>
      <p:sp>
        <p:nvSpPr>
          <p:cNvPr id="42" name="Text 33"/>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50" dirty="0">
                <a:solidFill>
                  <a:srgbClr val="6B6360"/>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6F5"/>
        </a:solidFill>
      </p:bgPr>
    </p:bg>
    <p:spTree>
      <p:nvGrpSpPr>
        <p:cNvPr id="1" name=""/>
        <p:cNvGrpSpPr/>
        <p:nvPr/>
      </p:nvGrpSpPr>
      <p:grpSpPr>
        <a:xfrm>
          <a:off x="0" y="0"/>
          <a:ext cx="0" cy="0"/>
          <a:chOff x="0" y="0"/>
          <a:chExt cx="0" cy="0"/>
        </a:xfrm>
      </p:grpSpPr>
      <p:sp>
        <p:nvSpPr>
          <p:cNvPr id="2" name="Text 0"/>
          <p:cNvSpPr/>
          <p:nvPr/>
        </p:nvSpPr>
        <p:spPr>
          <a:xfrm>
            <a:off x="548640" y="384048"/>
            <a:ext cx="8229600" cy="292608"/>
          </a:xfrm>
          <a:prstGeom prst="rect">
            <a:avLst/>
          </a:prstGeom>
          <a:noFill/>
          <a:ln/>
        </p:spPr>
        <p:txBody>
          <a:bodyPr wrap="square" lIns="0" tIns="0" rIns="0" bIns="0" rtlCol="0" anchor="ctr"/>
          <a:lstStyle/>
          <a:p>
            <a:pPr indent="0" marL="0">
              <a:buNone/>
            </a:pPr>
            <a:r>
              <a:rPr lang="en-US" sz="1300" b="1" spc="200" kern="0" dirty="0">
                <a:solidFill>
                  <a:srgbClr val="990011"/>
                </a:solidFill>
                <a:latin typeface="Calibri" pitchFamily="34" charset="0"/>
                <a:ea typeface="Calibri" pitchFamily="34" charset="-122"/>
                <a:cs typeface="Calibri" pitchFamily="34" charset="-120"/>
              </a:rPr>
              <a:t>RESULTS</a:t>
            </a:r>
            <a:endParaRPr lang="en-US" sz="1300" dirty="0"/>
          </a:p>
        </p:txBody>
      </p:sp>
      <p:sp>
        <p:nvSpPr>
          <p:cNvPr id="3" name="Text 1"/>
          <p:cNvSpPr/>
          <p:nvPr/>
        </p:nvSpPr>
        <p:spPr>
          <a:xfrm>
            <a:off x="530352" y="658368"/>
            <a:ext cx="10607040" cy="566928"/>
          </a:xfrm>
          <a:prstGeom prst="rect">
            <a:avLst/>
          </a:prstGeom>
          <a:noFill/>
          <a:ln/>
        </p:spPr>
        <p:txBody>
          <a:bodyPr wrap="square" lIns="0" tIns="0" rIns="0" bIns="0" rtlCol="0" anchor="ctr"/>
          <a:lstStyle/>
          <a:p>
            <a:pPr indent="0" marL="0">
              <a:buNone/>
            </a:pPr>
            <a:r>
              <a:rPr lang="en-US" sz="3000" b="1" dirty="0">
                <a:solidFill>
                  <a:srgbClr val="2F3C7E"/>
                </a:solidFill>
                <a:latin typeface="Cambria" pitchFamily="34" charset="0"/>
                <a:ea typeface="Cambria" pitchFamily="34" charset="-122"/>
                <a:cs typeface="Cambria" pitchFamily="34" charset="-120"/>
              </a:rPr>
              <a:t>Expected Outcomes &amp; Advantages</a:t>
            </a:r>
            <a:endParaRPr lang="en-US" sz="3000" dirty="0"/>
          </a:p>
        </p:txBody>
      </p:sp>
      <p:sp>
        <p:nvSpPr>
          <p:cNvPr id="4" name="Shape 2"/>
          <p:cNvSpPr/>
          <p:nvPr/>
        </p:nvSpPr>
        <p:spPr>
          <a:xfrm>
            <a:off x="548640" y="1508760"/>
            <a:ext cx="3611880" cy="1828800"/>
          </a:xfrm>
          <a:prstGeom prst="roundRect">
            <a:avLst>
              <a:gd name="adj" fmla="val 4500"/>
            </a:avLst>
          </a:prstGeom>
          <a:solidFill>
            <a:srgbClr val="FFFFFF"/>
          </a:solidFill>
          <a:ln/>
          <a:effectLst>
            <a:outerShdw sx="100000" sy="100000" kx="0" ky="0" algn="bl" rotWithShape="0" blurRad="101600" dist="38100" dir="5400000">
              <a:srgbClr val="1A1A1A">
                <a:alpha val="12000"/>
              </a:srgbClr>
            </a:outerShdw>
          </a:effectLst>
        </p:spPr>
      </p:sp>
      <p:sp>
        <p:nvSpPr>
          <p:cNvPr id="5" name="Shape 3"/>
          <p:cNvSpPr/>
          <p:nvPr/>
        </p:nvSpPr>
        <p:spPr>
          <a:xfrm>
            <a:off x="2043684" y="1764792"/>
            <a:ext cx="621792" cy="621792"/>
          </a:xfrm>
          <a:prstGeom prst="ellipse">
            <a:avLst/>
          </a:prstGeom>
          <a:solidFill>
            <a:srgbClr val="990011"/>
          </a:solidFill>
          <a:ln/>
        </p:spPr>
      </p:sp>
      <p:pic>
        <p:nvPicPr>
          <p:cNvPr id="6" name="Image 0" descr="images/icon_route.png">    </p:cNvPr>
          <p:cNvPicPr>
            <a:picLocks noChangeAspect="1"/>
          </p:cNvPicPr>
          <p:nvPr/>
        </p:nvPicPr>
        <p:blipFill>
          <a:blip r:embed="rId1"/>
          <a:stretch>
            <a:fillRect/>
          </a:stretch>
        </p:blipFill>
        <p:spPr>
          <a:xfrm>
            <a:off x="2205350" y="1926458"/>
            <a:ext cx="298460" cy="298460"/>
          </a:xfrm>
          <a:prstGeom prst="rect">
            <a:avLst/>
          </a:prstGeom>
        </p:spPr>
      </p:pic>
      <p:sp>
        <p:nvSpPr>
          <p:cNvPr id="7" name="Text 4"/>
          <p:cNvSpPr/>
          <p:nvPr/>
        </p:nvSpPr>
        <p:spPr>
          <a:xfrm>
            <a:off x="777240" y="2514600"/>
            <a:ext cx="3154680" cy="731520"/>
          </a:xfrm>
          <a:prstGeom prst="rect">
            <a:avLst/>
          </a:prstGeom>
          <a:noFill/>
          <a:ln/>
        </p:spPr>
        <p:txBody>
          <a:bodyPr wrap="square" lIns="0" tIns="0" rIns="0" bIns="0" rtlCol="0" anchor="t"/>
          <a:lstStyle/>
          <a:p>
            <a:pPr algn="ctr" indent="0" marL="0">
              <a:lnSpc>
                <a:spcPct val="105000"/>
              </a:lnSpc>
              <a:buNone/>
            </a:pPr>
            <a:r>
              <a:rPr lang="en-US" sz="1300" dirty="0">
                <a:solidFill>
                  <a:srgbClr val="262220"/>
                </a:solidFill>
                <a:latin typeface="Calibri" pitchFamily="34" charset="0"/>
                <a:ea typeface="Calibri" pitchFamily="34" charset="-122"/>
                <a:cs typeface="Calibri" pitchFamily="34" charset="-120"/>
              </a:rPr>
              <a:t>Faster, automated evacuation route decisions</a:t>
            </a:r>
            <a:endParaRPr lang="en-US" sz="1300" dirty="0"/>
          </a:p>
        </p:txBody>
      </p:sp>
      <p:sp>
        <p:nvSpPr>
          <p:cNvPr id="8" name="Shape 5"/>
          <p:cNvSpPr/>
          <p:nvPr/>
        </p:nvSpPr>
        <p:spPr>
          <a:xfrm>
            <a:off x="4434840" y="1508760"/>
            <a:ext cx="3611880" cy="1828800"/>
          </a:xfrm>
          <a:prstGeom prst="roundRect">
            <a:avLst>
              <a:gd name="adj" fmla="val 4500"/>
            </a:avLst>
          </a:prstGeom>
          <a:solidFill>
            <a:srgbClr val="FFFFFF"/>
          </a:solidFill>
          <a:ln/>
          <a:effectLst>
            <a:outerShdw sx="100000" sy="100000" kx="0" ky="0" algn="bl" rotWithShape="0" blurRad="101600" dist="38100" dir="5400000">
              <a:srgbClr val="1A1A1A">
                <a:alpha val="12000"/>
              </a:srgbClr>
            </a:outerShdw>
          </a:effectLst>
        </p:spPr>
      </p:sp>
      <p:sp>
        <p:nvSpPr>
          <p:cNvPr id="9" name="Shape 6"/>
          <p:cNvSpPr/>
          <p:nvPr/>
        </p:nvSpPr>
        <p:spPr>
          <a:xfrm>
            <a:off x="5929884" y="1764792"/>
            <a:ext cx="621792" cy="621792"/>
          </a:xfrm>
          <a:prstGeom prst="ellipse">
            <a:avLst/>
          </a:prstGeom>
          <a:solidFill>
            <a:srgbClr val="2F3C7E"/>
          </a:solidFill>
          <a:ln/>
        </p:spPr>
      </p:sp>
      <p:pic>
        <p:nvPicPr>
          <p:cNvPr id="10" name="Image 1" descr="images/icon_shield.png">    </p:cNvPr>
          <p:cNvPicPr>
            <a:picLocks noChangeAspect="1"/>
          </p:cNvPicPr>
          <p:nvPr/>
        </p:nvPicPr>
        <p:blipFill>
          <a:blip r:embed="rId2"/>
          <a:stretch>
            <a:fillRect/>
          </a:stretch>
        </p:blipFill>
        <p:spPr>
          <a:xfrm>
            <a:off x="6091550" y="1926458"/>
            <a:ext cx="298460" cy="298460"/>
          </a:xfrm>
          <a:prstGeom prst="rect">
            <a:avLst/>
          </a:prstGeom>
        </p:spPr>
      </p:pic>
      <p:sp>
        <p:nvSpPr>
          <p:cNvPr id="11" name="Text 7"/>
          <p:cNvSpPr/>
          <p:nvPr/>
        </p:nvSpPr>
        <p:spPr>
          <a:xfrm>
            <a:off x="4663440" y="2514600"/>
            <a:ext cx="3154680" cy="731520"/>
          </a:xfrm>
          <a:prstGeom prst="rect">
            <a:avLst/>
          </a:prstGeom>
          <a:noFill/>
          <a:ln/>
        </p:spPr>
        <p:txBody>
          <a:bodyPr wrap="square" lIns="0" tIns="0" rIns="0" bIns="0" rtlCol="0" anchor="t"/>
          <a:lstStyle/>
          <a:p>
            <a:pPr algn="ctr" indent="0" marL="0">
              <a:lnSpc>
                <a:spcPct val="105000"/>
              </a:lnSpc>
              <a:buNone/>
            </a:pPr>
            <a:r>
              <a:rPr lang="en-US" sz="1300" dirty="0">
                <a:solidFill>
                  <a:srgbClr val="262220"/>
                </a:solidFill>
                <a:latin typeface="Calibri" pitchFamily="34" charset="0"/>
                <a:ea typeface="Calibri" pitchFamily="34" charset="-122"/>
                <a:cs typeface="Calibri" pitchFamily="34" charset="-120"/>
              </a:rPr>
              <a:t>Hazardous and blocked zones actively avoided</a:t>
            </a:r>
            <a:endParaRPr lang="en-US" sz="1300" dirty="0"/>
          </a:p>
        </p:txBody>
      </p:sp>
      <p:sp>
        <p:nvSpPr>
          <p:cNvPr id="12" name="Shape 8"/>
          <p:cNvSpPr/>
          <p:nvPr/>
        </p:nvSpPr>
        <p:spPr>
          <a:xfrm>
            <a:off x="8321040" y="1508760"/>
            <a:ext cx="3611880" cy="1828800"/>
          </a:xfrm>
          <a:prstGeom prst="roundRect">
            <a:avLst>
              <a:gd name="adj" fmla="val 4500"/>
            </a:avLst>
          </a:prstGeom>
          <a:solidFill>
            <a:srgbClr val="FFFFFF"/>
          </a:solidFill>
          <a:ln/>
          <a:effectLst>
            <a:outerShdw sx="100000" sy="100000" kx="0" ky="0" algn="bl" rotWithShape="0" blurRad="101600" dist="38100" dir="5400000">
              <a:srgbClr val="1A1A1A">
                <a:alpha val="12000"/>
              </a:srgbClr>
            </a:outerShdw>
          </a:effectLst>
        </p:spPr>
      </p:sp>
      <p:sp>
        <p:nvSpPr>
          <p:cNvPr id="13" name="Shape 9"/>
          <p:cNvSpPr/>
          <p:nvPr/>
        </p:nvSpPr>
        <p:spPr>
          <a:xfrm>
            <a:off x="9816084" y="1764792"/>
            <a:ext cx="621792" cy="621792"/>
          </a:xfrm>
          <a:prstGeom prst="ellipse">
            <a:avLst/>
          </a:prstGeom>
          <a:solidFill>
            <a:srgbClr val="990011"/>
          </a:solidFill>
          <a:ln/>
        </p:spPr>
      </p:sp>
      <p:pic>
        <p:nvPicPr>
          <p:cNvPr id="14" name="Image 2" descr="images/icon_users.png">    </p:cNvPr>
          <p:cNvPicPr>
            <a:picLocks noChangeAspect="1"/>
          </p:cNvPicPr>
          <p:nvPr/>
        </p:nvPicPr>
        <p:blipFill>
          <a:blip r:embed="rId3"/>
          <a:stretch>
            <a:fillRect/>
          </a:stretch>
        </p:blipFill>
        <p:spPr>
          <a:xfrm>
            <a:off x="9977750" y="1926458"/>
            <a:ext cx="298460" cy="298460"/>
          </a:xfrm>
          <a:prstGeom prst="rect">
            <a:avLst/>
          </a:prstGeom>
        </p:spPr>
      </p:pic>
      <p:sp>
        <p:nvSpPr>
          <p:cNvPr id="15" name="Text 10"/>
          <p:cNvSpPr/>
          <p:nvPr/>
        </p:nvSpPr>
        <p:spPr>
          <a:xfrm>
            <a:off x="8549640" y="2514600"/>
            <a:ext cx="3154680" cy="731520"/>
          </a:xfrm>
          <a:prstGeom prst="rect">
            <a:avLst/>
          </a:prstGeom>
          <a:noFill/>
          <a:ln/>
        </p:spPr>
        <p:txBody>
          <a:bodyPr wrap="square" lIns="0" tIns="0" rIns="0" bIns="0" rtlCol="0" anchor="t"/>
          <a:lstStyle/>
          <a:p>
            <a:pPr algn="ctr" indent="0" marL="0">
              <a:lnSpc>
                <a:spcPct val="105000"/>
              </a:lnSpc>
              <a:buNone/>
            </a:pPr>
            <a:r>
              <a:rPr lang="en-US" sz="1300" dirty="0">
                <a:solidFill>
                  <a:srgbClr val="262220"/>
                </a:solidFill>
                <a:latin typeface="Calibri" pitchFamily="34" charset="0"/>
                <a:ea typeface="Calibri" pitchFamily="34" charset="-122"/>
                <a:cs typeface="Calibri" pitchFamily="34" charset="-120"/>
              </a:rPr>
              <a:t>Reduced congestion at building exits</a:t>
            </a:r>
            <a:endParaRPr lang="en-US" sz="1300" dirty="0"/>
          </a:p>
        </p:txBody>
      </p:sp>
      <p:sp>
        <p:nvSpPr>
          <p:cNvPr id="16" name="Shape 11"/>
          <p:cNvSpPr/>
          <p:nvPr/>
        </p:nvSpPr>
        <p:spPr>
          <a:xfrm>
            <a:off x="548640" y="3630168"/>
            <a:ext cx="3611880" cy="1828800"/>
          </a:xfrm>
          <a:prstGeom prst="roundRect">
            <a:avLst>
              <a:gd name="adj" fmla="val 4500"/>
            </a:avLst>
          </a:prstGeom>
          <a:solidFill>
            <a:srgbClr val="FFFFFF"/>
          </a:solidFill>
          <a:ln/>
          <a:effectLst>
            <a:outerShdw sx="100000" sy="100000" kx="0" ky="0" algn="bl" rotWithShape="0" blurRad="101600" dist="38100" dir="5400000">
              <a:srgbClr val="1A1A1A">
                <a:alpha val="12000"/>
              </a:srgbClr>
            </a:outerShdw>
          </a:effectLst>
        </p:spPr>
      </p:sp>
      <p:sp>
        <p:nvSpPr>
          <p:cNvPr id="17" name="Shape 12"/>
          <p:cNvSpPr/>
          <p:nvPr/>
        </p:nvSpPr>
        <p:spPr>
          <a:xfrm>
            <a:off x="2043684" y="3886200"/>
            <a:ext cx="621792" cy="621792"/>
          </a:xfrm>
          <a:prstGeom prst="ellipse">
            <a:avLst/>
          </a:prstGeom>
          <a:solidFill>
            <a:srgbClr val="2F3C7E"/>
          </a:solidFill>
          <a:ln/>
        </p:spPr>
      </p:sp>
      <p:pic>
        <p:nvPicPr>
          <p:cNvPr id="18" name="Image 3" descr="images/icon_search.png">    </p:cNvPr>
          <p:cNvPicPr>
            <a:picLocks noChangeAspect="1"/>
          </p:cNvPicPr>
          <p:nvPr/>
        </p:nvPicPr>
        <p:blipFill>
          <a:blip r:embed="rId4"/>
          <a:stretch>
            <a:fillRect/>
          </a:stretch>
        </p:blipFill>
        <p:spPr>
          <a:xfrm>
            <a:off x="2205350" y="4047866"/>
            <a:ext cx="298460" cy="298460"/>
          </a:xfrm>
          <a:prstGeom prst="rect">
            <a:avLst/>
          </a:prstGeom>
        </p:spPr>
      </p:pic>
      <p:sp>
        <p:nvSpPr>
          <p:cNvPr id="19" name="Text 13"/>
          <p:cNvSpPr/>
          <p:nvPr/>
        </p:nvSpPr>
        <p:spPr>
          <a:xfrm>
            <a:off x="777240" y="4636008"/>
            <a:ext cx="3154680" cy="731520"/>
          </a:xfrm>
          <a:prstGeom prst="rect">
            <a:avLst/>
          </a:prstGeom>
          <a:noFill/>
          <a:ln/>
        </p:spPr>
        <p:txBody>
          <a:bodyPr wrap="square" lIns="0" tIns="0" rIns="0" bIns="0" rtlCol="0" anchor="t"/>
          <a:lstStyle/>
          <a:p>
            <a:pPr algn="ctr" indent="0" marL="0">
              <a:lnSpc>
                <a:spcPct val="105000"/>
              </a:lnSpc>
              <a:buNone/>
            </a:pPr>
            <a:r>
              <a:rPr lang="en-US" sz="1300" dirty="0">
                <a:solidFill>
                  <a:srgbClr val="262220"/>
                </a:solidFill>
                <a:latin typeface="Calibri" pitchFamily="34" charset="0"/>
                <a:ea typeface="Calibri" pitchFamily="34" charset="-122"/>
                <a:cs typeface="Calibri" pitchFamily="34" charset="-120"/>
              </a:rPr>
              <a:t>Routes adapt as hazards change in real time</a:t>
            </a:r>
            <a:endParaRPr lang="en-US" sz="1300" dirty="0"/>
          </a:p>
        </p:txBody>
      </p:sp>
      <p:sp>
        <p:nvSpPr>
          <p:cNvPr id="20" name="Shape 14"/>
          <p:cNvSpPr/>
          <p:nvPr/>
        </p:nvSpPr>
        <p:spPr>
          <a:xfrm>
            <a:off x="4434840" y="3630168"/>
            <a:ext cx="3611880" cy="1828800"/>
          </a:xfrm>
          <a:prstGeom prst="roundRect">
            <a:avLst>
              <a:gd name="adj" fmla="val 4500"/>
            </a:avLst>
          </a:prstGeom>
          <a:solidFill>
            <a:srgbClr val="FFFFFF"/>
          </a:solidFill>
          <a:ln/>
          <a:effectLst>
            <a:outerShdw sx="100000" sy="100000" kx="0" ky="0" algn="bl" rotWithShape="0" blurRad="101600" dist="38100" dir="5400000">
              <a:srgbClr val="1A1A1A">
                <a:alpha val="12000"/>
              </a:srgbClr>
            </a:outerShdw>
          </a:effectLst>
        </p:spPr>
      </p:sp>
      <p:sp>
        <p:nvSpPr>
          <p:cNvPr id="21" name="Shape 15"/>
          <p:cNvSpPr/>
          <p:nvPr/>
        </p:nvSpPr>
        <p:spPr>
          <a:xfrm>
            <a:off x="5929884" y="3886200"/>
            <a:ext cx="621792" cy="621792"/>
          </a:xfrm>
          <a:prstGeom prst="ellipse">
            <a:avLst/>
          </a:prstGeom>
          <a:solidFill>
            <a:srgbClr val="990011"/>
          </a:solidFill>
          <a:ln/>
        </p:spPr>
      </p:sp>
      <p:pic>
        <p:nvPicPr>
          <p:cNvPr id="22" name="Image 4" descr="images/icon_sitemap.png">    </p:cNvPr>
          <p:cNvPicPr>
            <a:picLocks noChangeAspect="1"/>
          </p:cNvPicPr>
          <p:nvPr/>
        </p:nvPicPr>
        <p:blipFill>
          <a:blip r:embed="rId5"/>
          <a:stretch>
            <a:fillRect/>
          </a:stretch>
        </p:blipFill>
        <p:spPr>
          <a:xfrm>
            <a:off x="6091550" y="4047866"/>
            <a:ext cx="298460" cy="298460"/>
          </a:xfrm>
          <a:prstGeom prst="rect">
            <a:avLst/>
          </a:prstGeom>
        </p:spPr>
      </p:pic>
      <p:sp>
        <p:nvSpPr>
          <p:cNvPr id="23" name="Text 16"/>
          <p:cNvSpPr/>
          <p:nvPr/>
        </p:nvSpPr>
        <p:spPr>
          <a:xfrm>
            <a:off x="4663440" y="4636008"/>
            <a:ext cx="3154680" cy="731520"/>
          </a:xfrm>
          <a:prstGeom prst="rect">
            <a:avLst/>
          </a:prstGeom>
          <a:noFill/>
          <a:ln/>
        </p:spPr>
        <p:txBody>
          <a:bodyPr wrap="square" lIns="0" tIns="0" rIns="0" bIns="0" rtlCol="0" anchor="t"/>
          <a:lstStyle/>
          <a:p>
            <a:pPr algn="ctr" indent="0" marL="0">
              <a:lnSpc>
                <a:spcPct val="105000"/>
              </a:lnSpc>
              <a:buNone/>
            </a:pPr>
            <a:r>
              <a:rPr lang="en-US" sz="1300" dirty="0">
                <a:solidFill>
                  <a:srgbClr val="262220"/>
                </a:solidFill>
                <a:latin typeface="Calibri" pitchFamily="34" charset="0"/>
                <a:ea typeface="Calibri" pitchFamily="34" charset="-122"/>
                <a:cs typeface="Calibri" pitchFamily="34" charset="-120"/>
              </a:rPr>
              <a:t>Scalable to different building layouts</a:t>
            </a:r>
            <a:endParaRPr lang="en-US" sz="1300" dirty="0"/>
          </a:p>
        </p:txBody>
      </p:sp>
      <p:sp>
        <p:nvSpPr>
          <p:cNvPr id="24" name="Shape 17"/>
          <p:cNvSpPr/>
          <p:nvPr/>
        </p:nvSpPr>
        <p:spPr>
          <a:xfrm>
            <a:off x="8321040" y="3630168"/>
            <a:ext cx="3611880" cy="1828800"/>
          </a:xfrm>
          <a:prstGeom prst="roundRect">
            <a:avLst>
              <a:gd name="adj" fmla="val 4500"/>
            </a:avLst>
          </a:prstGeom>
          <a:solidFill>
            <a:srgbClr val="FFFFFF"/>
          </a:solidFill>
          <a:ln/>
          <a:effectLst>
            <a:outerShdw sx="100000" sy="100000" kx="0" ky="0" algn="bl" rotWithShape="0" blurRad="101600" dist="38100" dir="5400000">
              <a:srgbClr val="1A1A1A">
                <a:alpha val="12000"/>
              </a:srgbClr>
            </a:outerShdw>
          </a:effectLst>
        </p:spPr>
      </p:sp>
      <p:sp>
        <p:nvSpPr>
          <p:cNvPr id="25" name="Shape 18"/>
          <p:cNvSpPr/>
          <p:nvPr/>
        </p:nvSpPr>
        <p:spPr>
          <a:xfrm>
            <a:off x="9816084" y="3886200"/>
            <a:ext cx="621792" cy="621792"/>
          </a:xfrm>
          <a:prstGeom prst="ellipse">
            <a:avLst/>
          </a:prstGeom>
          <a:solidFill>
            <a:srgbClr val="2F3C7E"/>
          </a:solidFill>
          <a:ln/>
        </p:spPr>
      </p:sp>
      <p:pic>
        <p:nvPicPr>
          <p:cNvPr id="26" name="Image 5" descr="images/icon_check.png">    </p:cNvPr>
          <p:cNvPicPr>
            <a:picLocks noChangeAspect="1"/>
          </p:cNvPicPr>
          <p:nvPr/>
        </p:nvPicPr>
        <p:blipFill>
          <a:blip r:embed="rId6"/>
          <a:stretch>
            <a:fillRect/>
          </a:stretch>
        </p:blipFill>
        <p:spPr>
          <a:xfrm>
            <a:off x="9977750" y="4047866"/>
            <a:ext cx="298460" cy="298460"/>
          </a:xfrm>
          <a:prstGeom prst="rect">
            <a:avLst/>
          </a:prstGeom>
        </p:spPr>
      </p:pic>
      <p:sp>
        <p:nvSpPr>
          <p:cNvPr id="27" name="Text 19"/>
          <p:cNvSpPr/>
          <p:nvPr/>
        </p:nvSpPr>
        <p:spPr>
          <a:xfrm>
            <a:off x="8549640" y="4636008"/>
            <a:ext cx="3154680" cy="731520"/>
          </a:xfrm>
          <a:prstGeom prst="rect">
            <a:avLst/>
          </a:prstGeom>
          <a:noFill/>
          <a:ln/>
        </p:spPr>
        <p:txBody>
          <a:bodyPr wrap="square" lIns="0" tIns="0" rIns="0" bIns="0" rtlCol="0" anchor="t"/>
          <a:lstStyle/>
          <a:p>
            <a:pPr algn="ctr" indent="0" marL="0">
              <a:lnSpc>
                <a:spcPct val="105000"/>
              </a:lnSpc>
              <a:buNone/>
            </a:pPr>
            <a:r>
              <a:rPr lang="en-US" sz="1300" dirty="0">
                <a:solidFill>
                  <a:srgbClr val="262220"/>
                </a:solidFill>
                <a:latin typeface="Calibri" pitchFamily="34" charset="0"/>
                <a:ea typeface="Calibri" pitchFamily="34" charset="-122"/>
                <a:cs typeface="Calibri" pitchFamily="34" charset="-120"/>
              </a:rPr>
              <a:t>Simple, map-based interface for fast response</a:t>
            </a:r>
            <a:endParaRPr lang="en-US" sz="1300" dirty="0"/>
          </a:p>
        </p:txBody>
      </p:sp>
      <p:sp>
        <p:nvSpPr>
          <p:cNvPr id="28" name="Text 20"/>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50" dirty="0">
                <a:solidFill>
                  <a:srgbClr val="6B6360"/>
                </a:solidFill>
                <a:latin typeface="Calibri" pitchFamily="34" charset="0"/>
                <a:ea typeface="Calibri" pitchFamily="34" charset="-122"/>
                <a:cs typeface="Calibri" pitchFamily="34" charset="-120"/>
              </a:rPr>
              <a:t>Emergency Evacuation Path Planner</a:t>
            </a:r>
            <a:endParaRPr lang="en-US" sz="950" dirty="0"/>
          </a:p>
        </p:txBody>
      </p:sp>
      <p:sp>
        <p:nvSpPr>
          <p:cNvPr id="29" name="Text 21"/>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50" dirty="0">
                <a:solidFill>
                  <a:srgbClr val="6B6360"/>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2350"/>
        </a:solidFill>
      </p:bgPr>
    </p:bg>
    <p:spTree>
      <p:nvGrpSpPr>
        <p:cNvPr id="1" name=""/>
        <p:cNvGrpSpPr/>
        <p:nvPr/>
      </p:nvGrpSpPr>
      <p:grpSpPr>
        <a:xfrm>
          <a:off x="0" y="0"/>
          <a:ext cx="0" cy="0"/>
          <a:chOff x="0" y="0"/>
          <a:chExt cx="0" cy="0"/>
        </a:xfrm>
      </p:grpSpPr>
      <p:sp>
        <p:nvSpPr>
          <p:cNvPr id="2" name="Shape 0"/>
          <p:cNvSpPr/>
          <p:nvPr/>
        </p:nvSpPr>
        <p:spPr>
          <a:xfrm>
            <a:off x="8961120" y="-2286000"/>
            <a:ext cx="5943600" cy="5943600"/>
          </a:xfrm>
          <a:prstGeom prst="ellipse">
            <a:avLst/>
          </a:prstGeom>
          <a:solidFill>
            <a:srgbClr val="26306B"/>
          </a:solidFill>
          <a:ln/>
        </p:spPr>
      </p:sp>
      <p:sp>
        <p:nvSpPr>
          <p:cNvPr id="3" name="Shape 1"/>
          <p:cNvSpPr/>
          <p:nvPr/>
        </p:nvSpPr>
        <p:spPr>
          <a:xfrm>
            <a:off x="-2286000" y="4754880"/>
            <a:ext cx="5029200" cy="5029200"/>
          </a:xfrm>
          <a:prstGeom prst="ellipse">
            <a:avLst/>
          </a:prstGeom>
          <a:solidFill>
            <a:srgbClr val="26306B"/>
          </a:solidFill>
          <a:ln/>
        </p:spPr>
      </p:sp>
      <p:sp>
        <p:nvSpPr>
          <p:cNvPr id="4" name="Text 2"/>
          <p:cNvSpPr/>
          <p:nvPr/>
        </p:nvSpPr>
        <p:spPr>
          <a:xfrm>
            <a:off x="731520" y="777240"/>
            <a:ext cx="10698480" cy="411480"/>
          </a:xfrm>
          <a:prstGeom prst="rect">
            <a:avLst/>
          </a:prstGeom>
          <a:noFill/>
          <a:ln/>
        </p:spPr>
        <p:txBody>
          <a:bodyPr wrap="square" lIns="0" tIns="0" rIns="0" bIns="0" rtlCol="0" anchor="ctr"/>
          <a:lstStyle/>
          <a:p>
            <a:pPr indent="0" marL="0">
              <a:buNone/>
            </a:pPr>
            <a:r>
              <a:rPr lang="en-US" sz="1400" b="1" spc="200" kern="0" dirty="0">
                <a:solidFill>
                  <a:srgbClr val="FFB7BD"/>
                </a:solidFill>
                <a:latin typeface="Calibri" pitchFamily="34" charset="0"/>
                <a:ea typeface="Calibri" pitchFamily="34" charset="-122"/>
                <a:cs typeface="Calibri" pitchFamily="34" charset="-120"/>
              </a:rPr>
              <a:t>CONCLUSION</a:t>
            </a:r>
            <a:endParaRPr lang="en-US" sz="1400" dirty="0"/>
          </a:p>
        </p:txBody>
      </p:sp>
      <p:sp>
        <p:nvSpPr>
          <p:cNvPr id="5" name="Text 3"/>
          <p:cNvSpPr/>
          <p:nvPr/>
        </p:nvSpPr>
        <p:spPr>
          <a:xfrm>
            <a:off x="731520" y="1188720"/>
            <a:ext cx="1069848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 safer way out, guided by AI</a:t>
            </a:r>
            <a:endParaRPr lang="en-US" sz="3000" dirty="0"/>
          </a:p>
        </p:txBody>
      </p:sp>
      <p:sp>
        <p:nvSpPr>
          <p:cNvPr id="6" name="Text 4"/>
          <p:cNvSpPr/>
          <p:nvPr/>
        </p:nvSpPr>
        <p:spPr>
          <a:xfrm>
            <a:off x="731520" y="2011680"/>
            <a:ext cx="7315200" cy="2194560"/>
          </a:xfrm>
          <a:prstGeom prst="rect">
            <a:avLst/>
          </a:prstGeom>
          <a:noFill/>
          <a:ln/>
        </p:spPr>
        <p:txBody>
          <a:bodyPr wrap="square" lIns="0" tIns="0" rIns="0" bIns="0" rtlCol="0" anchor="t"/>
          <a:lstStyle/>
          <a:p>
            <a:pPr indent="0" marL="0">
              <a:lnSpc>
                <a:spcPct val="125000"/>
              </a:lnSpc>
              <a:buNone/>
            </a:pPr>
            <a:r>
              <a:rPr lang="en-US" sz="1450" dirty="0">
                <a:solidFill>
                  <a:srgbClr val="D7DAEE"/>
                </a:solidFill>
                <a:latin typeface="Calibri" pitchFamily="34" charset="0"/>
                <a:ea typeface="Calibri" pitchFamily="34" charset="-122"/>
                <a:cs typeface="Calibri" pitchFamily="34" charset="-120"/>
              </a:rPr>
              <a:t>The AI-Based Emergency Evacuation Path Planner combines graph-based mapping, search algorithms, constraint satisfaction, and adversarial decision-making to guide occupants along the safest, fastest route during a fire, earthquake, or other emergency. By treating hazard spread as a competing factor rather than an afterthought, the system delivers route recommendations that are not just fast, but genuinely safe.</a:t>
            </a:r>
            <a:endParaRPr lang="en-US" sz="1450" dirty="0"/>
          </a:p>
        </p:txBody>
      </p:sp>
      <p:sp>
        <p:nvSpPr>
          <p:cNvPr id="7" name="Shape 5"/>
          <p:cNvSpPr/>
          <p:nvPr/>
        </p:nvSpPr>
        <p:spPr>
          <a:xfrm>
            <a:off x="777240" y="4507992"/>
            <a:ext cx="109728" cy="109728"/>
          </a:xfrm>
          <a:prstGeom prst="ellipse">
            <a:avLst/>
          </a:prstGeom>
          <a:solidFill>
            <a:srgbClr val="FFB7BD"/>
          </a:solidFill>
          <a:ln/>
        </p:spPr>
      </p:sp>
      <p:sp>
        <p:nvSpPr>
          <p:cNvPr id="8" name="Text 6"/>
          <p:cNvSpPr/>
          <p:nvPr/>
        </p:nvSpPr>
        <p:spPr>
          <a:xfrm>
            <a:off x="1005840" y="4379976"/>
            <a:ext cx="6949440" cy="3657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Graph-based building model</a:t>
            </a:r>
            <a:endParaRPr lang="en-US" sz="1350" dirty="0"/>
          </a:p>
        </p:txBody>
      </p:sp>
      <p:sp>
        <p:nvSpPr>
          <p:cNvPr id="9" name="Shape 7"/>
          <p:cNvSpPr/>
          <p:nvPr/>
        </p:nvSpPr>
        <p:spPr>
          <a:xfrm>
            <a:off x="777240" y="4910328"/>
            <a:ext cx="109728" cy="109728"/>
          </a:xfrm>
          <a:prstGeom prst="ellipse">
            <a:avLst/>
          </a:prstGeom>
          <a:solidFill>
            <a:srgbClr val="FFB7BD"/>
          </a:solidFill>
          <a:ln/>
        </p:spPr>
      </p:sp>
      <p:sp>
        <p:nvSpPr>
          <p:cNvPr id="10" name="Text 8"/>
          <p:cNvSpPr/>
          <p:nvPr/>
        </p:nvSpPr>
        <p:spPr>
          <a:xfrm>
            <a:off x="1005840" y="4782312"/>
            <a:ext cx="6949440" cy="3657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Multi-algorithm safe-path search</a:t>
            </a:r>
            <a:endParaRPr lang="en-US" sz="1350" dirty="0"/>
          </a:p>
        </p:txBody>
      </p:sp>
      <p:sp>
        <p:nvSpPr>
          <p:cNvPr id="11" name="Shape 9"/>
          <p:cNvSpPr/>
          <p:nvPr/>
        </p:nvSpPr>
        <p:spPr>
          <a:xfrm>
            <a:off x="777240" y="5312664"/>
            <a:ext cx="109728" cy="109728"/>
          </a:xfrm>
          <a:prstGeom prst="ellipse">
            <a:avLst/>
          </a:prstGeom>
          <a:solidFill>
            <a:srgbClr val="FFB7BD"/>
          </a:solidFill>
          <a:ln/>
        </p:spPr>
      </p:sp>
      <p:sp>
        <p:nvSpPr>
          <p:cNvPr id="12" name="Text 10"/>
          <p:cNvSpPr/>
          <p:nvPr/>
        </p:nvSpPr>
        <p:spPr>
          <a:xfrm>
            <a:off x="1005840" y="5184648"/>
            <a:ext cx="6949440" cy="3657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Real-time hazard-aware decisions</a:t>
            </a:r>
            <a:endParaRPr lang="en-US" sz="1350" dirty="0"/>
          </a:p>
        </p:txBody>
      </p:sp>
      <p:sp>
        <p:nvSpPr>
          <p:cNvPr id="13" name="Shape 11"/>
          <p:cNvSpPr/>
          <p:nvPr/>
        </p:nvSpPr>
        <p:spPr>
          <a:xfrm>
            <a:off x="8503920" y="1463040"/>
            <a:ext cx="3108960" cy="4206240"/>
          </a:xfrm>
          <a:prstGeom prst="roundRect">
            <a:avLst>
              <a:gd name="adj" fmla="val 2647"/>
            </a:avLst>
          </a:prstGeom>
          <a:solidFill>
            <a:srgbClr val="FFFFFF"/>
          </a:solidFill>
          <a:ln/>
          <a:effectLst>
            <a:outerShdw sx="100000" sy="100000" kx="0" ky="0" algn="bl" rotWithShape="0" blurRad="101600" dist="38100" dir="5400000">
              <a:srgbClr val="1A1A1A">
                <a:alpha val="12000"/>
              </a:srgbClr>
            </a:outerShdw>
          </a:effectLst>
        </p:spPr>
      </p:sp>
      <p:sp>
        <p:nvSpPr>
          <p:cNvPr id="14" name="Text 12"/>
          <p:cNvSpPr/>
          <p:nvPr/>
        </p:nvSpPr>
        <p:spPr>
          <a:xfrm>
            <a:off x="8503920" y="2468880"/>
            <a:ext cx="3108960" cy="502920"/>
          </a:xfrm>
          <a:prstGeom prst="rect">
            <a:avLst/>
          </a:prstGeom>
          <a:noFill/>
          <a:ln/>
        </p:spPr>
        <p:txBody>
          <a:bodyPr wrap="square" lIns="0" tIns="0" rIns="0" bIns="0" rtlCol="0" anchor="ctr"/>
          <a:lstStyle/>
          <a:p>
            <a:pPr algn="ctr" indent="0" marL="0">
              <a:buNone/>
            </a:pPr>
            <a:r>
              <a:rPr lang="en-US" sz="2200" b="1" dirty="0">
                <a:solidFill>
                  <a:srgbClr val="990011"/>
                </a:solidFill>
                <a:latin typeface="Cambria" pitchFamily="34" charset="0"/>
                <a:ea typeface="Cambria" pitchFamily="34" charset="-122"/>
                <a:cs typeface="Cambria" pitchFamily="34" charset="-120"/>
              </a:rPr>
              <a:t>THANK YOU</a:t>
            </a:r>
            <a:endParaRPr lang="en-US" sz="2200" dirty="0"/>
          </a:p>
        </p:txBody>
      </p:sp>
      <p:sp>
        <p:nvSpPr>
          <p:cNvPr id="15" name="Shape 13"/>
          <p:cNvSpPr/>
          <p:nvPr/>
        </p:nvSpPr>
        <p:spPr>
          <a:xfrm>
            <a:off x="8915400" y="3063240"/>
            <a:ext cx="2286000" cy="0"/>
          </a:xfrm>
          <a:prstGeom prst="line">
            <a:avLst/>
          </a:prstGeom>
          <a:noFill/>
          <a:ln w="12700">
            <a:solidFill>
              <a:srgbClr val="E5DEDC"/>
            </a:solidFill>
            <a:prstDash val="solid"/>
          </a:ln>
        </p:spPr>
      </p:sp>
      <p:sp>
        <p:nvSpPr>
          <p:cNvPr id="16" name="Text 14"/>
          <p:cNvSpPr/>
          <p:nvPr/>
        </p:nvSpPr>
        <p:spPr>
          <a:xfrm>
            <a:off x="8503920" y="3246120"/>
            <a:ext cx="3108960" cy="914400"/>
          </a:xfrm>
          <a:prstGeom prst="rect">
            <a:avLst/>
          </a:prstGeom>
          <a:noFill/>
          <a:ln/>
        </p:spPr>
        <p:txBody>
          <a:bodyPr wrap="square" lIns="0" tIns="0" rIns="0" bIns="0" rtlCol="0" anchor="ctr"/>
          <a:lstStyle/>
          <a:p>
            <a:pPr algn="ctr" indent="0" marL="0">
              <a:lnSpc>
                <a:spcPct val="130000"/>
              </a:lnSpc>
              <a:buNone/>
            </a:pPr>
            <a:r>
              <a:rPr lang="en-US" sz="1300" dirty="0">
                <a:solidFill>
                  <a:srgbClr val="262220"/>
                </a:solidFill>
                <a:latin typeface="Calibri" pitchFamily="34" charset="0"/>
                <a:ea typeface="Calibri" pitchFamily="34" charset="-122"/>
                <a:cs typeface="Calibri" pitchFamily="34" charset="-120"/>
              </a:rPr>
              <a:t>Rishi Varma K</a:t>
            </a:r>
            <a:endParaRPr lang="en-US" sz="1300" dirty="0"/>
          </a:p>
          <a:p>
            <a:pPr algn="ctr" indent="0" marL="0">
              <a:lnSpc>
                <a:spcPct val="130000"/>
              </a:lnSpc>
              <a:buNone/>
            </a:pPr>
            <a:r>
              <a:rPr lang="en-US" sz="1300" dirty="0">
                <a:solidFill>
                  <a:srgbClr val="262220"/>
                </a:solidFill>
                <a:latin typeface="Calibri" pitchFamily="34" charset="0"/>
                <a:ea typeface="Calibri" pitchFamily="34" charset="-122"/>
                <a:cs typeface="Calibri" pitchFamily="34" charset="-120"/>
              </a:rPr>
              <a:t>Charith K</a:t>
            </a:r>
            <a:endParaRPr lang="en-US" sz="1300" dirty="0"/>
          </a:p>
          <a:p>
            <a:pPr algn="ctr" indent="0" marL="0">
              <a:lnSpc>
                <a:spcPct val="130000"/>
              </a:lnSpc>
              <a:buNone/>
            </a:pPr>
            <a:r>
              <a:rPr lang="en-US" sz="1300" dirty="0">
                <a:solidFill>
                  <a:srgbClr val="262220"/>
                </a:solidFill>
                <a:latin typeface="Calibri" pitchFamily="34" charset="0"/>
                <a:ea typeface="Calibri" pitchFamily="34" charset="-122"/>
                <a:cs typeface="Calibri" pitchFamily="34" charset="-120"/>
              </a:rPr>
              <a:t>S. Teja</a:t>
            </a:r>
            <a:endParaRPr lang="en-US" sz="1300" dirty="0"/>
          </a:p>
        </p:txBody>
      </p:sp>
      <p:sp>
        <p:nvSpPr>
          <p:cNvPr id="17" name="Text 15"/>
          <p:cNvSpPr/>
          <p:nvPr/>
        </p:nvSpPr>
        <p:spPr>
          <a:xfrm>
            <a:off x="8686800" y="4297680"/>
            <a:ext cx="2743200" cy="548640"/>
          </a:xfrm>
          <a:prstGeom prst="rect">
            <a:avLst/>
          </a:prstGeom>
          <a:noFill/>
          <a:ln/>
        </p:spPr>
        <p:txBody>
          <a:bodyPr wrap="square" lIns="0" tIns="0" rIns="0" bIns="0" rtlCol="0" anchor="t"/>
          <a:lstStyle/>
          <a:p>
            <a:pPr algn="ctr" indent="0" marL="0">
              <a:buNone/>
            </a:pPr>
            <a:r>
              <a:rPr lang="en-US" sz="1050" i="1" dirty="0">
                <a:solidFill>
                  <a:srgbClr val="6B6360"/>
                </a:solidFill>
                <a:latin typeface="Calibri" pitchFamily="34" charset="0"/>
                <a:ea typeface="Calibri" pitchFamily="34" charset="-122"/>
                <a:cs typeface="Calibri" pitchFamily="34" charset="-120"/>
              </a:rPr>
              <a:t>Department of Computer Science and Engineering</a:t>
            </a:r>
            <a:endParaRPr lang="en-US" sz="1050" dirty="0"/>
          </a:p>
        </p:txBody>
      </p:sp>
      <p:pic>
        <p:nvPicPr>
          <p:cNvPr id="18" name="Image 0" descr="images/klh_logo.jpg">    </p:cNvPr>
          <p:cNvPicPr>
            <a:picLocks noChangeAspect="1"/>
          </p:cNvPicPr>
          <p:nvPr/>
        </p:nvPicPr>
        <p:blipFill>
          <a:blip r:embed="rId1"/>
          <a:stretch>
            <a:fillRect/>
          </a:stretch>
        </p:blipFill>
        <p:spPr>
          <a:xfrm>
            <a:off x="9336024" y="4864608"/>
            <a:ext cx="1444752" cy="685800"/>
          </a:xfrm>
          <a:prstGeom prst="rect">
            <a:avLst/>
          </a:prstGeom>
        </p:spPr>
      </p:pic>
      <p:sp>
        <p:nvSpPr>
          <p:cNvPr id="19" name="Text 16"/>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50" dirty="0">
                <a:solidFill>
                  <a:srgbClr val="C9CDE0"/>
                </a:solidFill>
                <a:latin typeface="Calibri" pitchFamily="34" charset="0"/>
                <a:ea typeface="Calibri" pitchFamily="34" charset="-122"/>
                <a:cs typeface="Calibri" pitchFamily="34" charset="-120"/>
              </a:rPr>
              <a:t>Emergency Evacuation Path Planner</a:t>
            </a:r>
            <a:endParaRPr lang="en-US" sz="950" dirty="0"/>
          </a:p>
        </p:txBody>
      </p:sp>
      <p:sp>
        <p:nvSpPr>
          <p:cNvPr id="20" name="Text 17"/>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50" dirty="0">
                <a:solidFill>
                  <a:srgbClr val="C9CDE0"/>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Emergency Evacuation Path Planner</dc:title>
  <dc:subject>PptxGenJS Presentation</dc:subject>
  <dc:creator>Rishi Varma K, Charith K, S. Teja</dc:creator>
  <cp:lastModifiedBy>Rishi Varma K, Charith K, S. Teja</cp:lastModifiedBy>
  <cp:revision>1</cp:revision>
  <dcterms:created xsi:type="dcterms:W3CDTF">2026-06-16T04:11:00Z</dcterms:created>
  <dcterms:modified xsi:type="dcterms:W3CDTF">2026-06-16T04:11:00Z</dcterms:modified>
</cp:coreProperties>
</file>